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Lst>
  <p:sldSz cx="21374100" cy="30276800"/>
  <p:notesSz cx="6858000" cy="9144000"/>
  <p:embeddedFontLst>
    <p:embeddedFont>
      <p:font typeface="Canva Sans" panose="020B0604020202020204" charset="0"/>
      <p:regular r:id="rId6"/>
    </p:embeddedFont>
    <p:embeddedFont>
      <p:font typeface="Gotham" panose="020B0604020202020204"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384" y="1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font" Target="fonts/font2.fntdata"/><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font" Target="fonts/font1.fntdata"/><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05/17/2025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png"/><Relationship Id="rId34" Type="http://schemas.openxmlformats.org/officeDocument/2006/relationships/image" Target="../media/image33.sv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svg"/><Relationship Id="rId33" Type="http://schemas.openxmlformats.org/officeDocument/2006/relationships/image" Target="../media/image32.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png"/><Relationship Id="rId29"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sv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svg"/><Relationship Id="rId28"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EBFF"/>
        </a:solidFill>
        <a:effectLst/>
      </p:bgPr>
    </p:bg>
    <p:spTree>
      <p:nvGrpSpPr>
        <p:cNvPr id="1" name=""/>
        <p:cNvGrpSpPr/>
        <p:nvPr/>
      </p:nvGrpSpPr>
      <p:grpSpPr>
        <a:xfrm>
          <a:off x="0" y="0"/>
          <a:ext cx="0" cy="0"/>
          <a:chOff x="0" y="0"/>
          <a:chExt cx="0" cy="0"/>
        </a:xfrm>
      </p:grpSpPr>
      <p:grpSp>
        <p:nvGrpSpPr>
          <p:cNvPr id="2" name="Group 2"/>
          <p:cNvGrpSpPr/>
          <p:nvPr/>
        </p:nvGrpSpPr>
        <p:grpSpPr>
          <a:xfrm>
            <a:off x="0" y="5972"/>
            <a:ext cx="21384000" cy="3181915"/>
            <a:chOff x="0" y="0"/>
            <a:chExt cx="2506829" cy="373013"/>
          </a:xfrm>
        </p:grpSpPr>
        <p:sp>
          <p:nvSpPr>
            <p:cNvPr id="3" name="Freeform 3"/>
            <p:cNvSpPr/>
            <p:nvPr/>
          </p:nvSpPr>
          <p:spPr>
            <a:xfrm>
              <a:off x="0" y="0"/>
              <a:ext cx="2506829" cy="373013"/>
            </a:xfrm>
            <a:custGeom>
              <a:avLst/>
              <a:gdLst/>
              <a:ahLst/>
              <a:cxnLst/>
              <a:rect l="l" t="t" r="r" b="b"/>
              <a:pathLst>
                <a:path w="2506829" h="373013">
                  <a:moveTo>
                    <a:pt x="17378" y="0"/>
                  </a:moveTo>
                  <a:lnTo>
                    <a:pt x="2489451" y="0"/>
                  </a:lnTo>
                  <a:cubicBezTo>
                    <a:pt x="2499049" y="0"/>
                    <a:pt x="2506829" y="7780"/>
                    <a:pt x="2506829" y="17378"/>
                  </a:cubicBezTo>
                  <a:lnTo>
                    <a:pt x="2506829" y="355635"/>
                  </a:lnTo>
                  <a:cubicBezTo>
                    <a:pt x="2506829" y="365233"/>
                    <a:pt x="2499049" y="373013"/>
                    <a:pt x="2489451" y="373013"/>
                  </a:cubicBezTo>
                  <a:lnTo>
                    <a:pt x="17378" y="373013"/>
                  </a:lnTo>
                  <a:cubicBezTo>
                    <a:pt x="7780" y="373013"/>
                    <a:pt x="0" y="365233"/>
                    <a:pt x="0" y="355635"/>
                  </a:cubicBezTo>
                  <a:lnTo>
                    <a:pt x="0" y="17378"/>
                  </a:lnTo>
                  <a:cubicBezTo>
                    <a:pt x="0" y="7780"/>
                    <a:pt x="7780" y="0"/>
                    <a:pt x="17378" y="0"/>
                  </a:cubicBezTo>
                  <a:close/>
                </a:path>
              </a:pathLst>
            </a:custGeom>
            <a:solidFill>
              <a:srgbClr val="FFFFFF"/>
            </a:solidFill>
          </p:spPr>
          <p:txBody>
            <a:bodyPr/>
            <a:lstStyle/>
            <a:p>
              <a:endParaRPr lang="tr-TR"/>
            </a:p>
          </p:txBody>
        </p:sp>
        <p:sp>
          <p:nvSpPr>
            <p:cNvPr id="4" name="TextBox 4"/>
            <p:cNvSpPr txBox="1"/>
            <p:nvPr/>
          </p:nvSpPr>
          <p:spPr>
            <a:xfrm>
              <a:off x="0" y="-38100"/>
              <a:ext cx="2506829" cy="411113"/>
            </a:xfrm>
            <a:prstGeom prst="rect">
              <a:avLst/>
            </a:prstGeom>
          </p:spPr>
          <p:txBody>
            <a:bodyPr lIns="33000" tIns="33000" rIns="33000" bIns="33000" rtlCol="0" anchor="ctr"/>
            <a:lstStyle/>
            <a:p>
              <a:pPr algn="l">
                <a:lnSpc>
                  <a:spcPts val="2637"/>
                </a:lnSpc>
                <a:spcBef>
                  <a:spcPct val="0"/>
                </a:spcBef>
              </a:pPr>
              <a:endParaRPr/>
            </a:p>
          </p:txBody>
        </p:sp>
      </p:grpSp>
      <p:grpSp>
        <p:nvGrpSpPr>
          <p:cNvPr id="5" name="Group 5"/>
          <p:cNvGrpSpPr/>
          <p:nvPr/>
        </p:nvGrpSpPr>
        <p:grpSpPr>
          <a:xfrm>
            <a:off x="1013075" y="4301622"/>
            <a:ext cx="10199184" cy="2267626"/>
            <a:chOff x="0" y="0"/>
            <a:chExt cx="1386015" cy="308158"/>
          </a:xfrm>
        </p:grpSpPr>
        <p:sp>
          <p:nvSpPr>
            <p:cNvPr id="6" name="Freeform 6"/>
            <p:cNvSpPr/>
            <p:nvPr/>
          </p:nvSpPr>
          <p:spPr>
            <a:xfrm>
              <a:off x="0" y="0"/>
              <a:ext cx="1386015" cy="308158"/>
            </a:xfrm>
            <a:custGeom>
              <a:avLst/>
              <a:gdLst/>
              <a:ahLst/>
              <a:cxnLst/>
              <a:rect l="l" t="t" r="r" b="b"/>
              <a:pathLst>
                <a:path w="1386015" h="308158">
                  <a:moveTo>
                    <a:pt x="0" y="0"/>
                  </a:moveTo>
                  <a:lnTo>
                    <a:pt x="1386015" y="0"/>
                  </a:lnTo>
                  <a:lnTo>
                    <a:pt x="1386015" y="308158"/>
                  </a:lnTo>
                  <a:lnTo>
                    <a:pt x="0" y="308158"/>
                  </a:lnTo>
                  <a:close/>
                </a:path>
              </a:pathLst>
            </a:custGeom>
            <a:solidFill>
              <a:srgbClr val="FFFFFF"/>
            </a:solidFill>
            <a:ln w="38100" cap="sq">
              <a:solidFill>
                <a:srgbClr val="000000"/>
              </a:solidFill>
              <a:prstDash val="solid"/>
              <a:miter/>
            </a:ln>
          </p:spPr>
          <p:txBody>
            <a:bodyPr/>
            <a:lstStyle/>
            <a:p>
              <a:endParaRPr lang="tr-TR"/>
            </a:p>
          </p:txBody>
        </p:sp>
        <p:sp>
          <p:nvSpPr>
            <p:cNvPr id="7" name="TextBox 7"/>
            <p:cNvSpPr txBox="1"/>
            <p:nvPr/>
          </p:nvSpPr>
          <p:spPr>
            <a:xfrm>
              <a:off x="0" y="-38100"/>
              <a:ext cx="1386015" cy="346258"/>
            </a:xfrm>
            <a:prstGeom prst="rect">
              <a:avLst/>
            </a:prstGeom>
          </p:spPr>
          <p:txBody>
            <a:bodyPr lIns="33000" tIns="33000" rIns="33000" bIns="33000" rtlCol="0" anchor="ctr"/>
            <a:lstStyle/>
            <a:p>
              <a:pPr algn="l">
                <a:lnSpc>
                  <a:spcPts val="2637"/>
                </a:lnSpc>
                <a:spcBef>
                  <a:spcPct val="0"/>
                </a:spcBef>
              </a:pPr>
              <a:endParaRPr/>
            </a:p>
          </p:txBody>
        </p:sp>
      </p:grpSp>
      <p:grpSp>
        <p:nvGrpSpPr>
          <p:cNvPr id="8" name="Group 8"/>
          <p:cNvGrpSpPr/>
          <p:nvPr/>
        </p:nvGrpSpPr>
        <p:grpSpPr>
          <a:xfrm>
            <a:off x="1013075" y="3536026"/>
            <a:ext cx="10199184" cy="737020"/>
            <a:chOff x="0" y="0"/>
            <a:chExt cx="3188272" cy="230393"/>
          </a:xfrm>
        </p:grpSpPr>
        <p:sp>
          <p:nvSpPr>
            <p:cNvPr id="9" name="Freeform 9"/>
            <p:cNvSpPr/>
            <p:nvPr/>
          </p:nvSpPr>
          <p:spPr>
            <a:xfrm>
              <a:off x="0" y="0"/>
              <a:ext cx="3188272" cy="230393"/>
            </a:xfrm>
            <a:custGeom>
              <a:avLst/>
              <a:gdLst/>
              <a:ahLst/>
              <a:cxnLst/>
              <a:rect l="l" t="t" r="r" b="b"/>
              <a:pathLst>
                <a:path w="3188272" h="230393">
                  <a:moveTo>
                    <a:pt x="0" y="0"/>
                  </a:moveTo>
                  <a:lnTo>
                    <a:pt x="3188272" y="0"/>
                  </a:lnTo>
                  <a:lnTo>
                    <a:pt x="3188272" y="230393"/>
                  </a:lnTo>
                  <a:lnTo>
                    <a:pt x="0" y="230393"/>
                  </a:lnTo>
                  <a:close/>
                </a:path>
              </a:pathLst>
            </a:custGeom>
            <a:solidFill>
              <a:srgbClr val="050A30"/>
            </a:solidFill>
          </p:spPr>
          <p:txBody>
            <a:bodyPr/>
            <a:lstStyle/>
            <a:p>
              <a:endParaRPr lang="tr-TR"/>
            </a:p>
          </p:txBody>
        </p:sp>
        <p:sp>
          <p:nvSpPr>
            <p:cNvPr id="10" name="TextBox 10"/>
            <p:cNvSpPr txBox="1"/>
            <p:nvPr/>
          </p:nvSpPr>
          <p:spPr>
            <a:xfrm>
              <a:off x="0" y="-38100"/>
              <a:ext cx="3188272" cy="268493"/>
            </a:xfrm>
            <a:prstGeom prst="rect">
              <a:avLst/>
            </a:prstGeom>
          </p:spPr>
          <p:txBody>
            <a:bodyPr lIns="14346" tIns="14346" rIns="14346" bIns="14346" rtlCol="0" anchor="ctr"/>
            <a:lstStyle/>
            <a:p>
              <a:pPr algn="l">
                <a:lnSpc>
                  <a:spcPts val="2637"/>
                </a:lnSpc>
                <a:spcBef>
                  <a:spcPct val="0"/>
                </a:spcBef>
              </a:pPr>
              <a:endParaRPr/>
            </a:p>
          </p:txBody>
        </p:sp>
      </p:grpSp>
      <p:grpSp>
        <p:nvGrpSpPr>
          <p:cNvPr id="11" name="Group 11"/>
          <p:cNvGrpSpPr/>
          <p:nvPr/>
        </p:nvGrpSpPr>
        <p:grpSpPr>
          <a:xfrm>
            <a:off x="12762421" y="30078939"/>
            <a:ext cx="8958027" cy="4630011"/>
            <a:chOff x="0" y="0"/>
            <a:chExt cx="1217348" cy="629194"/>
          </a:xfrm>
        </p:grpSpPr>
        <p:sp>
          <p:nvSpPr>
            <p:cNvPr id="12" name="Freeform 12"/>
            <p:cNvSpPr/>
            <p:nvPr/>
          </p:nvSpPr>
          <p:spPr>
            <a:xfrm>
              <a:off x="0" y="0"/>
              <a:ext cx="1217348" cy="629194"/>
            </a:xfrm>
            <a:custGeom>
              <a:avLst/>
              <a:gdLst/>
              <a:ahLst/>
              <a:cxnLst/>
              <a:rect l="l" t="t" r="r" b="b"/>
              <a:pathLst>
                <a:path w="1217348" h="629194">
                  <a:moveTo>
                    <a:pt x="16421" y="0"/>
                  </a:moveTo>
                  <a:lnTo>
                    <a:pt x="1200927" y="0"/>
                  </a:lnTo>
                  <a:cubicBezTo>
                    <a:pt x="1209996" y="0"/>
                    <a:pt x="1217348" y="7352"/>
                    <a:pt x="1217348" y="16421"/>
                  </a:cubicBezTo>
                  <a:lnTo>
                    <a:pt x="1217348" y="612773"/>
                  </a:lnTo>
                  <a:cubicBezTo>
                    <a:pt x="1217348" y="621842"/>
                    <a:pt x="1209996" y="629194"/>
                    <a:pt x="1200927" y="629194"/>
                  </a:cubicBezTo>
                  <a:lnTo>
                    <a:pt x="16421" y="629194"/>
                  </a:lnTo>
                  <a:cubicBezTo>
                    <a:pt x="7352" y="629194"/>
                    <a:pt x="0" y="621842"/>
                    <a:pt x="0" y="612773"/>
                  </a:cubicBezTo>
                  <a:lnTo>
                    <a:pt x="0" y="16421"/>
                  </a:lnTo>
                  <a:cubicBezTo>
                    <a:pt x="0" y="7352"/>
                    <a:pt x="7352" y="0"/>
                    <a:pt x="16421" y="0"/>
                  </a:cubicBezTo>
                  <a:close/>
                </a:path>
              </a:pathLst>
            </a:custGeom>
            <a:solidFill>
              <a:srgbClr val="FFFFFF"/>
            </a:solidFill>
            <a:ln cap="sq">
              <a:noFill/>
              <a:prstDash val="solid"/>
              <a:miter/>
            </a:ln>
          </p:spPr>
          <p:txBody>
            <a:bodyPr/>
            <a:lstStyle/>
            <a:p>
              <a:endParaRPr lang="tr-TR"/>
            </a:p>
          </p:txBody>
        </p:sp>
        <p:sp>
          <p:nvSpPr>
            <p:cNvPr id="13" name="TextBox 13"/>
            <p:cNvSpPr txBox="1"/>
            <p:nvPr/>
          </p:nvSpPr>
          <p:spPr>
            <a:xfrm>
              <a:off x="0" y="-38100"/>
              <a:ext cx="1217348" cy="667294"/>
            </a:xfrm>
            <a:prstGeom prst="rect">
              <a:avLst/>
            </a:prstGeom>
          </p:spPr>
          <p:txBody>
            <a:bodyPr lIns="33000" tIns="33000" rIns="33000" bIns="33000" rtlCol="0" anchor="ctr"/>
            <a:lstStyle/>
            <a:p>
              <a:pPr algn="l">
                <a:lnSpc>
                  <a:spcPts val="2637"/>
                </a:lnSpc>
                <a:spcBef>
                  <a:spcPct val="0"/>
                </a:spcBef>
              </a:pPr>
              <a:endParaRPr/>
            </a:p>
          </p:txBody>
        </p:sp>
      </p:grpSp>
      <p:grpSp>
        <p:nvGrpSpPr>
          <p:cNvPr id="14" name="Group 14"/>
          <p:cNvGrpSpPr/>
          <p:nvPr/>
        </p:nvGrpSpPr>
        <p:grpSpPr>
          <a:xfrm>
            <a:off x="1598921" y="10830221"/>
            <a:ext cx="2521146" cy="2308060"/>
            <a:chOff x="0" y="0"/>
            <a:chExt cx="369252" cy="338043"/>
          </a:xfrm>
        </p:grpSpPr>
        <p:sp>
          <p:nvSpPr>
            <p:cNvPr id="15" name="Freeform 15"/>
            <p:cNvSpPr/>
            <p:nvPr/>
          </p:nvSpPr>
          <p:spPr>
            <a:xfrm>
              <a:off x="0" y="0"/>
              <a:ext cx="369252" cy="338043"/>
            </a:xfrm>
            <a:custGeom>
              <a:avLst/>
              <a:gdLst/>
              <a:ahLst/>
              <a:cxnLst/>
              <a:rect l="l" t="t" r="r" b="b"/>
              <a:pathLst>
                <a:path w="369252" h="338043">
                  <a:moveTo>
                    <a:pt x="0" y="0"/>
                  </a:moveTo>
                  <a:lnTo>
                    <a:pt x="369252" y="0"/>
                  </a:lnTo>
                  <a:lnTo>
                    <a:pt x="369252" y="338043"/>
                  </a:lnTo>
                  <a:lnTo>
                    <a:pt x="0" y="338043"/>
                  </a:lnTo>
                  <a:close/>
                </a:path>
              </a:pathLst>
            </a:custGeom>
            <a:solidFill>
              <a:srgbClr val="FFFFFF"/>
            </a:solidFill>
            <a:ln w="38100" cap="sq">
              <a:solidFill>
                <a:srgbClr val="000000"/>
              </a:solidFill>
              <a:prstDash val="solid"/>
              <a:miter/>
            </a:ln>
          </p:spPr>
          <p:txBody>
            <a:bodyPr/>
            <a:lstStyle/>
            <a:p>
              <a:endParaRPr lang="tr-TR"/>
            </a:p>
          </p:txBody>
        </p:sp>
        <p:sp>
          <p:nvSpPr>
            <p:cNvPr id="16" name="TextBox 16"/>
            <p:cNvSpPr txBox="1"/>
            <p:nvPr/>
          </p:nvSpPr>
          <p:spPr>
            <a:xfrm>
              <a:off x="0" y="-38100"/>
              <a:ext cx="369252" cy="376143"/>
            </a:xfrm>
            <a:prstGeom prst="rect">
              <a:avLst/>
            </a:prstGeom>
          </p:spPr>
          <p:txBody>
            <a:bodyPr lIns="33000" tIns="33000" rIns="33000" bIns="33000" rtlCol="0" anchor="ctr"/>
            <a:lstStyle/>
            <a:p>
              <a:pPr algn="l">
                <a:lnSpc>
                  <a:spcPts val="2637"/>
                </a:lnSpc>
                <a:spcBef>
                  <a:spcPct val="0"/>
                </a:spcBef>
              </a:pPr>
              <a:endParaRPr/>
            </a:p>
          </p:txBody>
        </p:sp>
      </p:grpSp>
      <p:sp>
        <p:nvSpPr>
          <p:cNvPr id="17" name="Freeform 17"/>
          <p:cNvSpPr/>
          <p:nvPr/>
        </p:nvSpPr>
        <p:spPr>
          <a:xfrm>
            <a:off x="464727" y="73270"/>
            <a:ext cx="2963647" cy="2963647"/>
          </a:xfrm>
          <a:custGeom>
            <a:avLst/>
            <a:gdLst/>
            <a:ahLst/>
            <a:cxnLst/>
            <a:rect l="l" t="t" r="r" b="b"/>
            <a:pathLst>
              <a:path w="2963647" h="2963647">
                <a:moveTo>
                  <a:pt x="0" y="0"/>
                </a:moveTo>
                <a:lnTo>
                  <a:pt x="2963648" y="0"/>
                </a:lnTo>
                <a:lnTo>
                  <a:pt x="2963648" y="2963647"/>
                </a:lnTo>
                <a:lnTo>
                  <a:pt x="0" y="29636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18"/>
          <p:cNvSpPr/>
          <p:nvPr/>
        </p:nvSpPr>
        <p:spPr>
          <a:xfrm>
            <a:off x="18420999" y="188397"/>
            <a:ext cx="1747690" cy="1950003"/>
          </a:xfrm>
          <a:custGeom>
            <a:avLst/>
            <a:gdLst/>
            <a:ahLst/>
            <a:cxnLst/>
            <a:rect l="l" t="t" r="r" b="b"/>
            <a:pathLst>
              <a:path w="1747690" h="1950003">
                <a:moveTo>
                  <a:pt x="0" y="0"/>
                </a:moveTo>
                <a:lnTo>
                  <a:pt x="1747691" y="0"/>
                </a:lnTo>
                <a:lnTo>
                  <a:pt x="1747691" y="1950003"/>
                </a:lnTo>
                <a:lnTo>
                  <a:pt x="0" y="1950003"/>
                </a:lnTo>
                <a:lnTo>
                  <a:pt x="0" y="0"/>
                </a:lnTo>
                <a:close/>
              </a:path>
            </a:pathLst>
          </a:custGeom>
          <a:blipFill>
            <a:blip r:embed="rId4"/>
            <a:stretch>
              <a:fillRect/>
            </a:stretch>
          </a:blipFill>
        </p:spPr>
        <p:txBody>
          <a:bodyPr/>
          <a:lstStyle/>
          <a:p>
            <a:endParaRPr lang="tr-TR"/>
          </a:p>
        </p:txBody>
      </p:sp>
      <p:grpSp>
        <p:nvGrpSpPr>
          <p:cNvPr id="19" name="Group 19"/>
          <p:cNvGrpSpPr/>
          <p:nvPr/>
        </p:nvGrpSpPr>
        <p:grpSpPr>
          <a:xfrm>
            <a:off x="11659047" y="4275341"/>
            <a:ext cx="8622583" cy="5211599"/>
            <a:chOff x="0" y="0"/>
            <a:chExt cx="1302464" cy="787226"/>
          </a:xfrm>
        </p:grpSpPr>
        <p:sp>
          <p:nvSpPr>
            <p:cNvPr id="20" name="Freeform 20"/>
            <p:cNvSpPr/>
            <p:nvPr/>
          </p:nvSpPr>
          <p:spPr>
            <a:xfrm>
              <a:off x="0" y="0"/>
              <a:ext cx="1302464" cy="787226"/>
            </a:xfrm>
            <a:custGeom>
              <a:avLst/>
              <a:gdLst/>
              <a:ahLst/>
              <a:cxnLst/>
              <a:rect l="l" t="t" r="r" b="b"/>
              <a:pathLst>
                <a:path w="1302464" h="787226">
                  <a:moveTo>
                    <a:pt x="0" y="0"/>
                  </a:moveTo>
                  <a:lnTo>
                    <a:pt x="1302464" y="0"/>
                  </a:lnTo>
                  <a:lnTo>
                    <a:pt x="1302464" y="787226"/>
                  </a:lnTo>
                  <a:lnTo>
                    <a:pt x="0" y="787226"/>
                  </a:lnTo>
                  <a:close/>
                </a:path>
              </a:pathLst>
            </a:custGeom>
            <a:solidFill>
              <a:srgbClr val="FFFFFF"/>
            </a:solidFill>
            <a:ln w="38100" cap="sq">
              <a:solidFill>
                <a:srgbClr val="000000"/>
              </a:solidFill>
              <a:prstDash val="solid"/>
              <a:miter/>
            </a:ln>
          </p:spPr>
          <p:txBody>
            <a:bodyPr/>
            <a:lstStyle/>
            <a:p>
              <a:endParaRPr lang="tr-TR"/>
            </a:p>
          </p:txBody>
        </p:sp>
        <p:sp>
          <p:nvSpPr>
            <p:cNvPr id="21" name="TextBox 21"/>
            <p:cNvSpPr txBox="1"/>
            <p:nvPr/>
          </p:nvSpPr>
          <p:spPr>
            <a:xfrm>
              <a:off x="0" y="-38100"/>
              <a:ext cx="1302464" cy="825326"/>
            </a:xfrm>
            <a:prstGeom prst="rect">
              <a:avLst/>
            </a:prstGeom>
          </p:spPr>
          <p:txBody>
            <a:bodyPr lIns="33000" tIns="33000" rIns="33000" bIns="33000" rtlCol="0" anchor="ctr"/>
            <a:lstStyle/>
            <a:p>
              <a:pPr algn="l">
                <a:lnSpc>
                  <a:spcPts val="2637"/>
                </a:lnSpc>
                <a:spcBef>
                  <a:spcPct val="0"/>
                </a:spcBef>
              </a:pPr>
              <a:endParaRPr/>
            </a:p>
          </p:txBody>
        </p:sp>
      </p:grpSp>
      <p:grpSp>
        <p:nvGrpSpPr>
          <p:cNvPr id="22" name="Group 22"/>
          <p:cNvGrpSpPr/>
          <p:nvPr/>
        </p:nvGrpSpPr>
        <p:grpSpPr>
          <a:xfrm>
            <a:off x="1050637" y="7561532"/>
            <a:ext cx="10161622" cy="1922434"/>
            <a:chOff x="0" y="0"/>
            <a:chExt cx="1608340" cy="304275"/>
          </a:xfrm>
        </p:grpSpPr>
        <p:sp>
          <p:nvSpPr>
            <p:cNvPr id="23" name="Freeform 23"/>
            <p:cNvSpPr/>
            <p:nvPr/>
          </p:nvSpPr>
          <p:spPr>
            <a:xfrm>
              <a:off x="0" y="0"/>
              <a:ext cx="1608340" cy="304275"/>
            </a:xfrm>
            <a:custGeom>
              <a:avLst/>
              <a:gdLst/>
              <a:ahLst/>
              <a:cxnLst/>
              <a:rect l="l" t="t" r="r" b="b"/>
              <a:pathLst>
                <a:path w="1608340" h="304275">
                  <a:moveTo>
                    <a:pt x="0" y="0"/>
                  </a:moveTo>
                  <a:lnTo>
                    <a:pt x="1608340" y="0"/>
                  </a:lnTo>
                  <a:lnTo>
                    <a:pt x="1608340" y="304275"/>
                  </a:lnTo>
                  <a:lnTo>
                    <a:pt x="0" y="304275"/>
                  </a:lnTo>
                  <a:close/>
                </a:path>
              </a:pathLst>
            </a:custGeom>
            <a:solidFill>
              <a:srgbClr val="FFFFFF"/>
            </a:solidFill>
            <a:ln w="38100" cap="sq">
              <a:solidFill>
                <a:srgbClr val="000000"/>
              </a:solidFill>
              <a:prstDash val="solid"/>
              <a:miter/>
            </a:ln>
          </p:spPr>
          <p:txBody>
            <a:bodyPr/>
            <a:lstStyle/>
            <a:p>
              <a:endParaRPr lang="tr-TR"/>
            </a:p>
          </p:txBody>
        </p:sp>
        <p:sp>
          <p:nvSpPr>
            <p:cNvPr id="24" name="TextBox 24"/>
            <p:cNvSpPr txBox="1"/>
            <p:nvPr/>
          </p:nvSpPr>
          <p:spPr>
            <a:xfrm>
              <a:off x="0" y="-38100"/>
              <a:ext cx="1608340" cy="342375"/>
            </a:xfrm>
            <a:prstGeom prst="rect">
              <a:avLst/>
            </a:prstGeom>
          </p:spPr>
          <p:txBody>
            <a:bodyPr lIns="33000" tIns="33000" rIns="33000" bIns="33000" rtlCol="0" anchor="ctr"/>
            <a:lstStyle/>
            <a:p>
              <a:pPr algn="l">
                <a:lnSpc>
                  <a:spcPts val="2637"/>
                </a:lnSpc>
                <a:spcBef>
                  <a:spcPct val="0"/>
                </a:spcBef>
              </a:pPr>
              <a:endParaRPr/>
            </a:p>
          </p:txBody>
        </p:sp>
      </p:grpSp>
      <p:sp>
        <p:nvSpPr>
          <p:cNvPr id="25" name="Freeform 25"/>
          <p:cNvSpPr/>
          <p:nvPr/>
        </p:nvSpPr>
        <p:spPr>
          <a:xfrm>
            <a:off x="11969048" y="5703137"/>
            <a:ext cx="5374129" cy="3459645"/>
          </a:xfrm>
          <a:custGeom>
            <a:avLst/>
            <a:gdLst/>
            <a:ahLst/>
            <a:cxnLst/>
            <a:rect l="l" t="t" r="r" b="b"/>
            <a:pathLst>
              <a:path w="5374129" h="3459645">
                <a:moveTo>
                  <a:pt x="0" y="0"/>
                </a:moveTo>
                <a:lnTo>
                  <a:pt x="5374130" y="0"/>
                </a:lnTo>
                <a:lnTo>
                  <a:pt x="5374130" y="3459645"/>
                </a:lnTo>
                <a:lnTo>
                  <a:pt x="0" y="3459645"/>
                </a:lnTo>
                <a:lnTo>
                  <a:pt x="0" y="0"/>
                </a:lnTo>
                <a:close/>
              </a:path>
            </a:pathLst>
          </a:custGeom>
          <a:blipFill>
            <a:blip r:embed="rId5"/>
            <a:stretch>
              <a:fillRect r="-3001"/>
            </a:stretch>
          </a:blipFill>
        </p:spPr>
        <p:txBody>
          <a:bodyPr/>
          <a:lstStyle/>
          <a:p>
            <a:endParaRPr lang="tr-TR"/>
          </a:p>
        </p:txBody>
      </p:sp>
      <p:sp>
        <p:nvSpPr>
          <p:cNvPr id="26" name="Freeform 26"/>
          <p:cNvSpPr/>
          <p:nvPr/>
        </p:nvSpPr>
        <p:spPr>
          <a:xfrm>
            <a:off x="17927736" y="6107933"/>
            <a:ext cx="1046981" cy="1093452"/>
          </a:xfrm>
          <a:custGeom>
            <a:avLst/>
            <a:gdLst/>
            <a:ahLst/>
            <a:cxnLst/>
            <a:rect l="l" t="t" r="r" b="b"/>
            <a:pathLst>
              <a:path w="1046981" h="1093452">
                <a:moveTo>
                  <a:pt x="0" y="0"/>
                </a:moveTo>
                <a:lnTo>
                  <a:pt x="1046980" y="0"/>
                </a:lnTo>
                <a:lnTo>
                  <a:pt x="1046980" y="1093452"/>
                </a:lnTo>
                <a:lnTo>
                  <a:pt x="0" y="1093452"/>
                </a:lnTo>
                <a:lnTo>
                  <a:pt x="0" y="0"/>
                </a:lnTo>
                <a:close/>
              </a:path>
            </a:pathLst>
          </a:custGeom>
          <a:blipFill>
            <a:blip r:embed="rId6"/>
            <a:stretch>
              <a:fillRect/>
            </a:stretch>
          </a:blipFill>
        </p:spPr>
        <p:txBody>
          <a:bodyPr/>
          <a:lstStyle/>
          <a:p>
            <a:endParaRPr lang="tr-TR"/>
          </a:p>
        </p:txBody>
      </p:sp>
      <p:sp>
        <p:nvSpPr>
          <p:cNvPr id="27" name="Freeform 27"/>
          <p:cNvSpPr/>
          <p:nvPr/>
        </p:nvSpPr>
        <p:spPr>
          <a:xfrm>
            <a:off x="17870730" y="7242996"/>
            <a:ext cx="1171487" cy="1171487"/>
          </a:xfrm>
          <a:custGeom>
            <a:avLst/>
            <a:gdLst/>
            <a:ahLst/>
            <a:cxnLst/>
            <a:rect l="l" t="t" r="r" b="b"/>
            <a:pathLst>
              <a:path w="1171487" h="1171487">
                <a:moveTo>
                  <a:pt x="0" y="0"/>
                </a:moveTo>
                <a:lnTo>
                  <a:pt x="1171487" y="0"/>
                </a:lnTo>
                <a:lnTo>
                  <a:pt x="1171487" y="1171487"/>
                </a:lnTo>
                <a:lnTo>
                  <a:pt x="0" y="1171487"/>
                </a:lnTo>
                <a:lnTo>
                  <a:pt x="0" y="0"/>
                </a:lnTo>
                <a:close/>
              </a:path>
            </a:pathLst>
          </a:custGeom>
          <a:blipFill>
            <a:blip r:embed="rId7"/>
            <a:stretch>
              <a:fillRect/>
            </a:stretch>
          </a:blipFill>
        </p:spPr>
        <p:txBody>
          <a:bodyPr/>
          <a:lstStyle/>
          <a:p>
            <a:endParaRPr lang="tr-TR"/>
          </a:p>
        </p:txBody>
      </p:sp>
      <p:sp>
        <p:nvSpPr>
          <p:cNvPr id="28" name="Freeform 28"/>
          <p:cNvSpPr/>
          <p:nvPr/>
        </p:nvSpPr>
        <p:spPr>
          <a:xfrm>
            <a:off x="17575584" y="7857088"/>
            <a:ext cx="1923443" cy="1923443"/>
          </a:xfrm>
          <a:custGeom>
            <a:avLst/>
            <a:gdLst/>
            <a:ahLst/>
            <a:cxnLst/>
            <a:rect l="l" t="t" r="r" b="b"/>
            <a:pathLst>
              <a:path w="1923443" h="1923443">
                <a:moveTo>
                  <a:pt x="0" y="0"/>
                </a:moveTo>
                <a:lnTo>
                  <a:pt x="1923443" y="0"/>
                </a:lnTo>
                <a:lnTo>
                  <a:pt x="1923443" y="1923443"/>
                </a:lnTo>
                <a:lnTo>
                  <a:pt x="0" y="1923443"/>
                </a:lnTo>
                <a:lnTo>
                  <a:pt x="0" y="0"/>
                </a:lnTo>
                <a:close/>
              </a:path>
            </a:pathLst>
          </a:custGeom>
          <a:blipFill>
            <a:blip r:embed="rId8"/>
            <a:stretch>
              <a:fillRect/>
            </a:stretch>
          </a:blipFill>
        </p:spPr>
        <p:txBody>
          <a:bodyPr/>
          <a:lstStyle/>
          <a:p>
            <a:endParaRPr lang="tr-TR"/>
          </a:p>
        </p:txBody>
      </p:sp>
      <p:sp>
        <p:nvSpPr>
          <p:cNvPr id="29" name="Freeform 29"/>
          <p:cNvSpPr/>
          <p:nvPr/>
        </p:nvSpPr>
        <p:spPr>
          <a:xfrm>
            <a:off x="1653235" y="10724168"/>
            <a:ext cx="1088990" cy="1122670"/>
          </a:xfrm>
          <a:custGeom>
            <a:avLst/>
            <a:gdLst/>
            <a:ahLst/>
            <a:cxnLst/>
            <a:rect l="l" t="t" r="r" b="b"/>
            <a:pathLst>
              <a:path w="1088990" h="1122670">
                <a:moveTo>
                  <a:pt x="0" y="0"/>
                </a:moveTo>
                <a:lnTo>
                  <a:pt x="1088990" y="0"/>
                </a:lnTo>
                <a:lnTo>
                  <a:pt x="1088990" y="1122670"/>
                </a:lnTo>
                <a:lnTo>
                  <a:pt x="0" y="1122670"/>
                </a:lnTo>
                <a:lnTo>
                  <a:pt x="0" y="0"/>
                </a:lnTo>
                <a:close/>
              </a:path>
            </a:pathLst>
          </a:custGeom>
          <a:blipFill>
            <a:blip r:embed="rId9"/>
            <a:stretch>
              <a:fillRect/>
            </a:stretch>
          </a:blipFill>
        </p:spPr>
        <p:txBody>
          <a:bodyPr/>
          <a:lstStyle/>
          <a:p>
            <a:endParaRPr lang="tr-TR"/>
          </a:p>
        </p:txBody>
      </p:sp>
      <p:grpSp>
        <p:nvGrpSpPr>
          <p:cNvPr id="30" name="Group 30"/>
          <p:cNvGrpSpPr/>
          <p:nvPr/>
        </p:nvGrpSpPr>
        <p:grpSpPr>
          <a:xfrm>
            <a:off x="4501929" y="10798693"/>
            <a:ext cx="2402869" cy="2308060"/>
            <a:chOff x="0" y="0"/>
            <a:chExt cx="351929" cy="338043"/>
          </a:xfrm>
        </p:grpSpPr>
        <p:sp>
          <p:nvSpPr>
            <p:cNvPr id="31" name="Freeform 31"/>
            <p:cNvSpPr/>
            <p:nvPr/>
          </p:nvSpPr>
          <p:spPr>
            <a:xfrm>
              <a:off x="0" y="0"/>
              <a:ext cx="351929" cy="338043"/>
            </a:xfrm>
            <a:custGeom>
              <a:avLst/>
              <a:gdLst/>
              <a:ahLst/>
              <a:cxnLst/>
              <a:rect l="l" t="t" r="r" b="b"/>
              <a:pathLst>
                <a:path w="351929" h="338043">
                  <a:moveTo>
                    <a:pt x="0" y="0"/>
                  </a:moveTo>
                  <a:lnTo>
                    <a:pt x="351929" y="0"/>
                  </a:lnTo>
                  <a:lnTo>
                    <a:pt x="351929" y="338043"/>
                  </a:lnTo>
                  <a:lnTo>
                    <a:pt x="0" y="338043"/>
                  </a:lnTo>
                  <a:close/>
                </a:path>
              </a:pathLst>
            </a:custGeom>
            <a:solidFill>
              <a:srgbClr val="FFFFFF"/>
            </a:solidFill>
            <a:ln w="38100" cap="sq">
              <a:solidFill>
                <a:srgbClr val="000000"/>
              </a:solidFill>
              <a:prstDash val="solid"/>
              <a:miter/>
            </a:ln>
          </p:spPr>
          <p:txBody>
            <a:bodyPr/>
            <a:lstStyle/>
            <a:p>
              <a:endParaRPr lang="tr-TR"/>
            </a:p>
          </p:txBody>
        </p:sp>
        <p:sp>
          <p:nvSpPr>
            <p:cNvPr id="32" name="TextBox 32"/>
            <p:cNvSpPr txBox="1"/>
            <p:nvPr/>
          </p:nvSpPr>
          <p:spPr>
            <a:xfrm>
              <a:off x="0" y="-38100"/>
              <a:ext cx="351929" cy="376143"/>
            </a:xfrm>
            <a:prstGeom prst="rect">
              <a:avLst/>
            </a:prstGeom>
          </p:spPr>
          <p:txBody>
            <a:bodyPr lIns="33000" tIns="33000" rIns="33000" bIns="33000" rtlCol="0" anchor="ctr"/>
            <a:lstStyle/>
            <a:p>
              <a:pPr algn="l">
                <a:lnSpc>
                  <a:spcPts val="2637"/>
                </a:lnSpc>
                <a:spcBef>
                  <a:spcPct val="0"/>
                </a:spcBef>
              </a:pPr>
              <a:endParaRPr/>
            </a:p>
          </p:txBody>
        </p:sp>
      </p:grpSp>
      <p:grpSp>
        <p:nvGrpSpPr>
          <p:cNvPr id="33" name="Group 33"/>
          <p:cNvGrpSpPr/>
          <p:nvPr/>
        </p:nvGrpSpPr>
        <p:grpSpPr>
          <a:xfrm>
            <a:off x="1598921" y="13357356"/>
            <a:ext cx="2521146" cy="2308060"/>
            <a:chOff x="0" y="0"/>
            <a:chExt cx="369252" cy="338043"/>
          </a:xfrm>
        </p:grpSpPr>
        <p:sp>
          <p:nvSpPr>
            <p:cNvPr id="34" name="Freeform 34"/>
            <p:cNvSpPr/>
            <p:nvPr/>
          </p:nvSpPr>
          <p:spPr>
            <a:xfrm>
              <a:off x="0" y="0"/>
              <a:ext cx="369252" cy="338043"/>
            </a:xfrm>
            <a:custGeom>
              <a:avLst/>
              <a:gdLst/>
              <a:ahLst/>
              <a:cxnLst/>
              <a:rect l="l" t="t" r="r" b="b"/>
              <a:pathLst>
                <a:path w="369252" h="338043">
                  <a:moveTo>
                    <a:pt x="0" y="0"/>
                  </a:moveTo>
                  <a:lnTo>
                    <a:pt x="369252" y="0"/>
                  </a:lnTo>
                  <a:lnTo>
                    <a:pt x="369252" y="338043"/>
                  </a:lnTo>
                  <a:lnTo>
                    <a:pt x="0" y="338043"/>
                  </a:lnTo>
                  <a:close/>
                </a:path>
              </a:pathLst>
            </a:custGeom>
            <a:solidFill>
              <a:srgbClr val="FFFFFF"/>
            </a:solidFill>
            <a:ln w="38100" cap="sq">
              <a:solidFill>
                <a:srgbClr val="000000"/>
              </a:solidFill>
              <a:prstDash val="solid"/>
              <a:miter/>
            </a:ln>
          </p:spPr>
          <p:txBody>
            <a:bodyPr/>
            <a:lstStyle/>
            <a:p>
              <a:endParaRPr lang="tr-TR"/>
            </a:p>
          </p:txBody>
        </p:sp>
        <p:sp>
          <p:nvSpPr>
            <p:cNvPr id="35" name="TextBox 35"/>
            <p:cNvSpPr txBox="1"/>
            <p:nvPr/>
          </p:nvSpPr>
          <p:spPr>
            <a:xfrm>
              <a:off x="0" y="-38100"/>
              <a:ext cx="369252" cy="376143"/>
            </a:xfrm>
            <a:prstGeom prst="rect">
              <a:avLst/>
            </a:prstGeom>
          </p:spPr>
          <p:txBody>
            <a:bodyPr lIns="33000" tIns="33000" rIns="33000" bIns="33000" rtlCol="0" anchor="ctr"/>
            <a:lstStyle/>
            <a:p>
              <a:pPr algn="l">
                <a:lnSpc>
                  <a:spcPts val="2637"/>
                </a:lnSpc>
                <a:spcBef>
                  <a:spcPct val="0"/>
                </a:spcBef>
              </a:pPr>
              <a:endParaRPr/>
            </a:p>
          </p:txBody>
        </p:sp>
      </p:grpSp>
      <p:grpSp>
        <p:nvGrpSpPr>
          <p:cNvPr id="36" name="Group 36"/>
          <p:cNvGrpSpPr/>
          <p:nvPr/>
        </p:nvGrpSpPr>
        <p:grpSpPr>
          <a:xfrm>
            <a:off x="4501929" y="13446835"/>
            <a:ext cx="2577684" cy="2218581"/>
            <a:chOff x="0" y="0"/>
            <a:chExt cx="377533" cy="324938"/>
          </a:xfrm>
        </p:grpSpPr>
        <p:sp>
          <p:nvSpPr>
            <p:cNvPr id="37" name="Freeform 37"/>
            <p:cNvSpPr/>
            <p:nvPr/>
          </p:nvSpPr>
          <p:spPr>
            <a:xfrm>
              <a:off x="0" y="0"/>
              <a:ext cx="377533" cy="324938"/>
            </a:xfrm>
            <a:custGeom>
              <a:avLst/>
              <a:gdLst/>
              <a:ahLst/>
              <a:cxnLst/>
              <a:rect l="l" t="t" r="r" b="b"/>
              <a:pathLst>
                <a:path w="377533" h="324938">
                  <a:moveTo>
                    <a:pt x="0" y="0"/>
                  </a:moveTo>
                  <a:lnTo>
                    <a:pt x="377533" y="0"/>
                  </a:lnTo>
                  <a:lnTo>
                    <a:pt x="377533" y="324938"/>
                  </a:lnTo>
                  <a:lnTo>
                    <a:pt x="0" y="324938"/>
                  </a:lnTo>
                  <a:close/>
                </a:path>
              </a:pathLst>
            </a:custGeom>
            <a:solidFill>
              <a:srgbClr val="FFFFFF"/>
            </a:solidFill>
            <a:ln w="38100" cap="sq">
              <a:solidFill>
                <a:srgbClr val="000000"/>
              </a:solidFill>
              <a:prstDash val="solid"/>
              <a:miter/>
            </a:ln>
          </p:spPr>
          <p:txBody>
            <a:bodyPr/>
            <a:lstStyle/>
            <a:p>
              <a:endParaRPr lang="tr-TR"/>
            </a:p>
          </p:txBody>
        </p:sp>
        <p:sp>
          <p:nvSpPr>
            <p:cNvPr id="38" name="TextBox 38"/>
            <p:cNvSpPr txBox="1"/>
            <p:nvPr/>
          </p:nvSpPr>
          <p:spPr>
            <a:xfrm>
              <a:off x="0" y="-38100"/>
              <a:ext cx="377533" cy="363038"/>
            </a:xfrm>
            <a:prstGeom prst="rect">
              <a:avLst/>
            </a:prstGeom>
          </p:spPr>
          <p:txBody>
            <a:bodyPr lIns="33000" tIns="33000" rIns="33000" bIns="33000" rtlCol="0" anchor="ctr"/>
            <a:lstStyle/>
            <a:p>
              <a:pPr algn="l">
                <a:lnSpc>
                  <a:spcPts val="2637"/>
                </a:lnSpc>
                <a:spcBef>
                  <a:spcPct val="0"/>
                </a:spcBef>
              </a:pPr>
              <a:endParaRPr/>
            </a:p>
          </p:txBody>
        </p:sp>
      </p:grpSp>
      <p:sp>
        <p:nvSpPr>
          <p:cNvPr id="39" name="Freeform 39"/>
          <p:cNvSpPr/>
          <p:nvPr/>
        </p:nvSpPr>
        <p:spPr>
          <a:xfrm>
            <a:off x="4501929" y="10798693"/>
            <a:ext cx="1082753" cy="1082753"/>
          </a:xfrm>
          <a:custGeom>
            <a:avLst/>
            <a:gdLst/>
            <a:ahLst/>
            <a:cxnLst/>
            <a:rect l="l" t="t" r="r" b="b"/>
            <a:pathLst>
              <a:path w="1082753" h="1082753">
                <a:moveTo>
                  <a:pt x="0" y="0"/>
                </a:moveTo>
                <a:lnTo>
                  <a:pt x="1082753" y="0"/>
                </a:lnTo>
                <a:lnTo>
                  <a:pt x="1082753" y="1082754"/>
                </a:lnTo>
                <a:lnTo>
                  <a:pt x="0" y="1082754"/>
                </a:lnTo>
                <a:lnTo>
                  <a:pt x="0" y="0"/>
                </a:lnTo>
                <a:close/>
              </a:path>
            </a:pathLst>
          </a:custGeom>
          <a:blipFill>
            <a:blip r:embed="rId10"/>
            <a:stretch>
              <a:fillRect/>
            </a:stretch>
          </a:blipFill>
        </p:spPr>
        <p:txBody>
          <a:bodyPr/>
          <a:lstStyle/>
          <a:p>
            <a:endParaRPr lang="tr-TR"/>
          </a:p>
        </p:txBody>
      </p:sp>
      <p:sp>
        <p:nvSpPr>
          <p:cNvPr id="40" name="Freeform 40"/>
          <p:cNvSpPr/>
          <p:nvPr/>
        </p:nvSpPr>
        <p:spPr>
          <a:xfrm>
            <a:off x="1692638" y="13385931"/>
            <a:ext cx="1042661" cy="1042661"/>
          </a:xfrm>
          <a:custGeom>
            <a:avLst/>
            <a:gdLst/>
            <a:ahLst/>
            <a:cxnLst/>
            <a:rect l="l" t="t" r="r" b="b"/>
            <a:pathLst>
              <a:path w="1042661" h="1042661">
                <a:moveTo>
                  <a:pt x="0" y="0"/>
                </a:moveTo>
                <a:lnTo>
                  <a:pt x="1042661" y="0"/>
                </a:lnTo>
                <a:lnTo>
                  <a:pt x="1042661" y="1042661"/>
                </a:lnTo>
                <a:lnTo>
                  <a:pt x="0" y="1042661"/>
                </a:lnTo>
                <a:lnTo>
                  <a:pt x="0" y="0"/>
                </a:lnTo>
                <a:close/>
              </a:path>
            </a:pathLst>
          </a:custGeom>
          <a:blipFill>
            <a:blip r:embed="rId11"/>
            <a:stretch>
              <a:fillRect/>
            </a:stretch>
          </a:blipFill>
        </p:spPr>
        <p:txBody>
          <a:bodyPr/>
          <a:lstStyle/>
          <a:p>
            <a:endParaRPr lang="tr-TR"/>
          </a:p>
        </p:txBody>
      </p:sp>
      <p:sp>
        <p:nvSpPr>
          <p:cNvPr id="41" name="Freeform 41"/>
          <p:cNvSpPr/>
          <p:nvPr/>
        </p:nvSpPr>
        <p:spPr>
          <a:xfrm>
            <a:off x="4659907" y="13497279"/>
            <a:ext cx="719480" cy="824300"/>
          </a:xfrm>
          <a:custGeom>
            <a:avLst/>
            <a:gdLst/>
            <a:ahLst/>
            <a:cxnLst/>
            <a:rect l="l" t="t" r="r" b="b"/>
            <a:pathLst>
              <a:path w="719480" h="824300">
                <a:moveTo>
                  <a:pt x="0" y="0"/>
                </a:moveTo>
                <a:lnTo>
                  <a:pt x="719481" y="0"/>
                </a:lnTo>
                <a:lnTo>
                  <a:pt x="719481" y="824299"/>
                </a:lnTo>
                <a:lnTo>
                  <a:pt x="0" y="824299"/>
                </a:lnTo>
                <a:lnTo>
                  <a:pt x="0" y="0"/>
                </a:lnTo>
                <a:close/>
              </a:path>
            </a:pathLst>
          </a:custGeom>
          <a:blipFill>
            <a:blip r:embed="rId12"/>
            <a:stretch>
              <a:fillRect t="-3962" b="-3962"/>
            </a:stretch>
          </a:blipFill>
        </p:spPr>
        <p:txBody>
          <a:bodyPr/>
          <a:lstStyle/>
          <a:p>
            <a:endParaRPr lang="tr-TR"/>
          </a:p>
        </p:txBody>
      </p:sp>
      <p:grpSp>
        <p:nvGrpSpPr>
          <p:cNvPr id="42" name="Group 42"/>
          <p:cNvGrpSpPr/>
          <p:nvPr/>
        </p:nvGrpSpPr>
        <p:grpSpPr>
          <a:xfrm>
            <a:off x="7736838" y="10641443"/>
            <a:ext cx="5656971" cy="5023974"/>
            <a:chOff x="0" y="0"/>
            <a:chExt cx="895362" cy="795174"/>
          </a:xfrm>
        </p:grpSpPr>
        <p:sp>
          <p:nvSpPr>
            <p:cNvPr id="43" name="Freeform 43"/>
            <p:cNvSpPr/>
            <p:nvPr/>
          </p:nvSpPr>
          <p:spPr>
            <a:xfrm>
              <a:off x="0" y="0"/>
              <a:ext cx="895362" cy="795174"/>
            </a:xfrm>
            <a:custGeom>
              <a:avLst/>
              <a:gdLst/>
              <a:ahLst/>
              <a:cxnLst/>
              <a:rect l="l" t="t" r="r" b="b"/>
              <a:pathLst>
                <a:path w="895362" h="795174">
                  <a:moveTo>
                    <a:pt x="0" y="0"/>
                  </a:moveTo>
                  <a:lnTo>
                    <a:pt x="895362" y="0"/>
                  </a:lnTo>
                  <a:lnTo>
                    <a:pt x="895362" y="795174"/>
                  </a:lnTo>
                  <a:lnTo>
                    <a:pt x="0" y="795174"/>
                  </a:lnTo>
                  <a:close/>
                </a:path>
              </a:pathLst>
            </a:custGeom>
            <a:solidFill>
              <a:srgbClr val="FFFFFF"/>
            </a:solidFill>
            <a:ln w="38100" cap="sq">
              <a:solidFill>
                <a:srgbClr val="000000"/>
              </a:solidFill>
              <a:prstDash val="solid"/>
              <a:miter/>
            </a:ln>
          </p:spPr>
          <p:txBody>
            <a:bodyPr/>
            <a:lstStyle/>
            <a:p>
              <a:endParaRPr lang="tr-TR"/>
            </a:p>
          </p:txBody>
        </p:sp>
        <p:sp>
          <p:nvSpPr>
            <p:cNvPr id="44" name="TextBox 44"/>
            <p:cNvSpPr txBox="1"/>
            <p:nvPr/>
          </p:nvSpPr>
          <p:spPr>
            <a:xfrm>
              <a:off x="0" y="-38100"/>
              <a:ext cx="895362" cy="833274"/>
            </a:xfrm>
            <a:prstGeom prst="rect">
              <a:avLst/>
            </a:prstGeom>
          </p:spPr>
          <p:txBody>
            <a:bodyPr lIns="33000" tIns="33000" rIns="33000" bIns="33000" rtlCol="0" anchor="ctr"/>
            <a:lstStyle/>
            <a:p>
              <a:pPr algn="l">
                <a:lnSpc>
                  <a:spcPts val="2637"/>
                </a:lnSpc>
                <a:spcBef>
                  <a:spcPct val="0"/>
                </a:spcBef>
              </a:pPr>
              <a:endParaRPr/>
            </a:p>
          </p:txBody>
        </p:sp>
      </p:grpSp>
      <p:grpSp>
        <p:nvGrpSpPr>
          <p:cNvPr id="45" name="Group 45"/>
          <p:cNvGrpSpPr/>
          <p:nvPr/>
        </p:nvGrpSpPr>
        <p:grpSpPr>
          <a:xfrm>
            <a:off x="1050637" y="16726736"/>
            <a:ext cx="19118053" cy="7751753"/>
            <a:chOff x="0" y="0"/>
            <a:chExt cx="3025928" cy="1226916"/>
          </a:xfrm>
        </p:grpSpPr>
        <p:sp>
          <p:nvSpPr>
            <p:cNvPr id="46" name="Freeform 46"/>
            <p:cNvSpPr/>
            <p:nvPr/>
          </p:nvSpPr>
          <p:spPr>
            <a:xfrm>
              <a:off x="0" y="0"/>
              <a:ext cx="3025928" cy="1226916"/>
            </a:xfrm>
            <a:custGeom>
              <a:avLst/>
              <a:gdLst/>
              <a:ahLst/>
              <a:cxnLst/>
              <a:rect l="l" t="t" r="r" b="b"/>
              <a:pathLst>
                <a:path w="3025928" h="1226916">
                  <a:moveTo>
                    <a:pt x="0" y="0"/>
                  </a:moveTo>
                  <a:lnTo>
                    <a:pt x="3025928" y="0"/>
                  </a:lnTo>
                  <a:lnTo>
                    <a:pt x="3025928" y="1226916"/>
                  </a:lnTo>
                  <a:lnTo>
                    <a:pt x="0" y="1226916"/>
                  </a:lnTo>
                  <a:close/>
                </a:path>
              </a:pathLst>
            </a:custGeom>
            <a:solidFill>
              <a:srgbClr val="FFFFFF"/>
            </a:solidFill>
            <a:ln w="38100" cap="sq">
              <a:solidFill>
                <a:srgbClr val="000000"/>
              </a:solidFill>
              <a:prstDash val="solid"/>
              <a:miter/>
            </a:ln>
          </p:spPr>
          <p:txBody>
            <a:bodyPr/>
            <a:lstStyle/>
            <a:p>
              <a:endParaRPr lang="tr-TR"/>
            </a:p>
          </p:txBody>
        </p:sp>
        <p:sp>
          <p:nvSpPr>
            <p:cNvPr id="47" name="TextBox 47"/>
            <p:cNvSpPr txBox="1"/>
            <p:nvPr/>
          </p:nvSpPr>
          <p:spPr>
            <a:xfrm>
              <a:off x="0" y="-38100"/>
              <a:ext cx="3025928" cy="1265016"/>
            </a:xfrm>
            <a:prstGeom prst="rect">
              <a:avLst/>
            </a:prstGeom>
          </p:spPr>
          <p:txBody>
            <a:bodyPr lIns="33000" tIns="33000" rIns="33000" bIns="33000" rtlCol="0" anchor="ctr"/>
            <a:lstStyle/>
            <a:p>
              <a:pPr algn="l">
                <a:lnSpc>
                  <a:spcPts val="2637"/>
                </a:lnSpc>
                <a:spcBef>
                  <a:spcPct val="0"/>
                </a:spcBef>
              </a:pPr>
              <a:endParaRPr/>
            </a:p>
          </p:txBody>
        </p:sp>
      </p:grpSp>
      <p:grpSp>
        <p:nvGrpSpPr>
          <p:cNvPr id="48" name="Group 48"/>
          <p:cNvGrpSpPr/>
          <p:nvPr/>
        </p:nvGrpSpPr>
        <p:grpSpPr>
          <a:xfrm>
            <a:off x="1050637" y="15875615"/>
            <a:ext cx="19196098" cy="858424"/>
            <a:chOff x="0" y="0"/>
            <a:chExt cx="25594797" cy="1144565"/>
          </a:xfrm>
        </p:grpSpPr>
        <p:grpSp>
          <p:nvGrpSpPr>
            <p:cNvPr id="49" name="Group 49"/>
            <p:cNvGrpSpPr/>
            <p:nvPr/>
          </p:nvGrpSpPr>
          <p:grpSpPr>
            <a:xfrm>
              <a:off x="0" y="0"/>
              <a:ext cx="25594797" cy="1144565"/>
              <a:chOff x="0" y="0"/>
              <a:chExt cx="5888451" cy="263324"/>
            </a:xfrm>
          </p:grpSpPr>
          <p:sp>
            <p:nvSpPr>
              <p:cNvPr id="50" name="Freeform 50"/>
              <p:cNvSpPr/>
              <p:nvPr/>
            </p:nvSpPr>
            <p:spPr>
              <a:xfrm>
                <a:off x="0" y="0"/>
                <a:ext cx="5888451" cy="263324"/>
              </a:xfrm>
              <a:custGeom>
                <a:avLst/>
                <a:gdLst/>
                <a:ahLst/>
                <a:cxnLst/>
                <a:rect l="l" t="t" r="r" b="b"/>
                <a:pathLst>
                  <a:path w="5888451" h="263324">
                    <a:moveTo>
                      <a:pt x="0" y="0"/>
                    </a:moveTo>
                    <a:lnTo>
                      <a:pt x="5888451" y="0"/>
                    </a:lnTo>
                    <a:lnTo>
                      <a:pt x="5888451" y="263324"/>
                    </a:lnTo>
                    <a:lnTo>
                      <a:pt x="0" y="263324"/>
                    </a:lnTo>
                    <a:close/>
                  </a:path>
                </a:pathLst>
              </a:custGeom>
              <a:solidFill>
                <a:srgbClr val="050A30"/>
              </a:solidFill>
            </p:spPr>
            <p:txBody>
              <a:bodyPr/>
              <a:lstStyle/>
              <a:p>
                <a:endParaRPr lang="tr-TR"/>
              </a:p>
            </p:txBody>
          </p:sp>
          <p:sp>
            <p:nvSpPr>
              <p:cNvPr id="51" name="TextBox 51"/>
              <p:cNvSpPr txBox="1"/>
              <p:nvPr/>
            </p:nvSpPr>
            <p:spPr>
              <a:xfrm>
                <a:off x="0" y="-38100"/>
                <a:ext cx="5888451" cy="301424"/>
              </a:xfrm>
              <a:prstGeom prst="rect">
                <a:avLst/>
              </a:prstGeom>
            </p:spPr>
            <p:txBody>
              <a:bodyPr lIns="50800" tIns="50800" rIns="50800" bIns="50800" rtlCol="0" anchor="ctr"/>
              <a:lstStyle/>
              <a:p>
                <a:pPr algn="l">
                  <a:lnSpc>
                    <a:spcPts val="2637"/>
                  </a:lnSpc>
                  <a:spcBef>
                    <a:spcPct val="0"/>
                  </a:spcBef>
                </a:pPr>
                <a:endParaRPr/>
              </a:p>
            </p:txBody>
          </p:sp>
        </p:grpSp>
        <p:grpSp>
          <p:nvGrpSpPr>
            <p:cNvPr id="52" name="Group 52"/>
            <p:cNvGrpSpPr/>
            <p:nvPr/>
          </p:nvGrpSpPr>
          <p:grpSpPr>
            <a:xfrm>
              <a:off x="0" y="0"/>
              <a:ext cx="4916081" cy="574120"/>
              <a:chOff x="0" y="0"/>
              <a:chExt cx="1131015" cy="132085"/>
            </a:xfrm>
          </p:grpSpPr>
          <p:sp>
            <p:nvSpPr>
              <p:cNvPr id="53" name="Freeform 53"/>
              <p:cNvSpPr/>
              <p:nvPr/>
            </p:nvSpPr>
            <p:spPr>
              <a:xfrm>
                <a:off x="0" y="0"/>
                <a:ext cx="1131015" cy="132085"/>
              </a:xfrm>
              <a:custGeom>
                <a:avLst/>
                <a:gdLst/>
                <a:ahLst/>
                <a:cxnLst/>
                <a:rect l="l" t="t" r="r" b="b"/>
                <a:pathLst>
                  <a:path w="1131015" h="132085">
                    <a:moveTo>
                      <a:pt x="0" y="0"/>
                    </a:moveTo>
                    <a:lnTo>
                      <a:pt x="1131015" y="0"/>
                    </a:lnTo>
                    <a:lnTo>
                      <a:pt x="1131015" y="132085"/>
                    </a:lnTo>
                    <a:lnTo>
                      <a:pt x="0" y="132085"/>
                    </a:lnTo>
                    <a:close/>
                  </a:path>
                </a:pathLst>
              </a:custGeom>
              <a:solidFill>
                <a:srgbClr val="050A30"/>
              </a:solidFill>
            </p:spPr>
            <p:txBody>
              <a:bodyPr/>
              <a:lstStyle/>
              <a:p>
                <a:endParaRPr lang="tr-TR"/>
              </a:p>
            </p:txBody>
          </p:sp>
          <p:sp>
            <p:nvSpPr>
              <p:cNvPr id="54" name="TextBox 54"/>
              <p:cNvSpPr txBox="1"/>
              <p:nvPr/>
            </p:nvSpPr>
            <p:spPr>
              <a:xfrm>
                <a:off x="0" y="-38100"/>
                <a:ext cx="1131015" cy="170185"/>
              </a:xfrm>
              <a:prstGeom prst="rect">
                <a:avLst/>
              </a:prstGeom>
            </p:spPr>
            <p:txBody>
              <a:bodyPr lIns="50800" tIns="50800" rIns="50800" bIns="50800" rtlCol="0" anchor="ctr"/>
              <a:lstStyle/>
              <a:p>
                <a:pPr algn="ctr">
                  <a:lnSpc>
                    <a:spcPts val="2637"/>
                  </a:lnSpc>
                  <a:spcBef>
                    <a:spcPct val="0"/>
                  </a:spcBef>
                </a:pPr>
                <a:endParaRPr/>
              </a:p>
            </p:txBody>
          </p:sp>
        </p:grpSp>
      </p:grpSp>
      <p:sp>
        <p:nvSpPr>
          <p:cNvPr id="55" name="Freeform 55"/>
          <p:cNvSpPr/>
          <p:nvPr/>
        </p:nvSpPr>
        <p:spPr>
          <a:xfrm>
            <a:off x="2793458" y="21525564"/>
            <a:ext cx="2044603" cy="2244574"/>
          </a:xfrm>
          <a:custGeom>
            <a:avLst/>
            <a:gdLst/>
            <a:ahLst/>
            <a:cxnLst/>
            <a:rect l="l" t="t" r="r" b="b"/>
            <a:pathLst>
              <a:path w="2044603" h="2244574">
                <a:moveTo>
                  <a:pt x="0" y="0"/>
                </a:moveTo>
                <a:lnTo>
                  <a:pt x="2044603" y="0"/>
                </a:lnTo>
                <a:lnTo>
                  <a:pt x="2044603" y="2244573"/>
                </a:lnTo>
                <a:lnTo>
                  <a:pt x="0" y="224457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tr-TR"/>
          </a:p>
        </p:txBody>
      </p:sp>
      <p:sp>
        <p:nvSpPr>
          <p:cNvPr id="56" name="Freeform 56"/>
          <p:cNvSpPr/>
          <p:nvPr/>
        </p:nvSpPr>
        <p:spPr>
          <a:xfrm>
            <a:off x="2627581" y="17949189"/>
            <a:ext cx="2353686" cy="2353686"/>
          </a:xfrm>
          <a:custGeom>
            <a:avLst/>
            <a:gdLst/>
            <a:ahLst/>
            <a:cxnLst/>
            <a:rect l="l" t="t" r="r" b="b"/>
            <a:pathLst>
              <a:path w="2353686" h="2353686">
                <a:moveTo>
                  <a:pt x="0" y="0"/>
                </a:moveTo>
                <a:lnTo>
                  <a:pt x="2353686" y="0"/>
                </a:lnTo>
                <a:lnTo>
                  <a:pt x="2353686" y="2353686"/>
                </a:lnTo>
                <a:lnTo>
                  <a:pt x="0" y="235368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tr-TR"/>
          </a:p>
        </p:txBody>
      </p:sp>
      <p:pic>
        <p:nvPicPr>
          <p:cNvPr id="57" name="Picture 57"/>
          <p:cNvPicPr>
            <a:picLocks noChangeAspect="1"/>
          </p:cNvPicPr>
          <p:nvPr/>
        </p:nvPicPr>
        <p:blipFill>
          <a:blip r:embed="rId17"/>
          <a:stretch>
            <a:fillRect/>
          </a:stretch>
        </p:blipFill>
        <p:spPr>
          <a:xfrm>
            <a:off x="6160362" y="17324895"/>
            <a:ext cx="3270464" cy="3787816"/>
          </a:xfrm>
          <a:prstGeom prst="rect">
            <a:avLst/>
          </a:prstGeom>
        </p:spPr>
      </p:pic>
      <p:pic>
        <p:nvPicPr>
          <p:cNvPr id="58" name="Picture 58"/>
          <p:cNvPicPr>
            <a:picLocks noChangeAspect="1"/>
          </p:cNvPicPr>
          <p:nvPr/>
        </p:nvPicPr>
        <p:blipFill>
          <a:blip r:embed="rId18"/>
          <a:stretch>
            <a:fillRect/>
          </a:stretch>
        </p:blipFill>
        <p:spPr>
          <a:xfrm>
            <a:off x="9846688" y="17324895"/>
            <a:ext cx="3270464" cy="3787816"/>
          </a:xfrm>
          <a:prstGeom prst="rect">
            <a:avLst/>
          </a:prstGeom>
        </p:spPr>
      </p:pic>
      <p:pic>
        <p:nvPicPr>
          <p:cNvPr id="59" name="Picture 59"/>
          <p:cNvPicPr>
            <a:picLocks noChangeAspect="1"/>
          </p:cNvPicPr>
          <p:nvPr/>
        </p:nvPicPr>
        <p:blipFill>
          <a:blip r:embed="rId19"/>
          <a:stretch>
            <a:fillRect/>
          </a:stretch>
        </p:blipFill>
        <p:spPr>
          <a:xfrm>
            <a:off x="13420184" y="17324895"/>
            <a:ext cx="3270464" cy="3787816"/>
          </a:xfrm>
          <a:prstGeom prst="rect">
            <a:avLst/>
          </a:prstGeom>
        </p:spPr>
      </p:pic>
      <p:pic>
        <p:nvPicPr>
          <p:cNvPr id="60" name="Picture 60"/>
          <p:cNvPicPr>
            <a:picLocks noChangeAspect="1"/>
          </p:cNvPicPr>
          <p:nvPr/>
        </p:nvPicPr>
        <p:blipFill>
          <a:blip r:embed="rId20"/>
          <a:stretch>
            <a:fillRect/>
          </a:stretch>
        </p:blipFill>
        <p:spPr>
          <a:xfrm>
            <a:off x="16967443" y="17304818"/>
            <a:ext cx="3281453" cy="3800543"/>
          </a:xfrm>
          <a:prstGeom prst="rect">
            <a:avLst/>
          </a:prstGeom>
        </p:spPr>
      </p:pic>
      <p:sp>
        <p:nvSpPr>
          <p:cNvPr id="61" name="Freeform 61"/>
          <p:cNvSpPr/>
          <p:nvPr/>
        </p:nvSpPr>
        <p:spPr>
          <a:xfrm>
            <a:off x="-302734" y="22838480"/>
            <a:ext cx="10692079" cy="10692079"/>
          </a:xfrm>
          <a:custGeom>
            <a:avLst/>
            <a:gdLst/>
            <a:ahLst/>
            <a:cxnLst/>
            <a:rect l="l" t="t" r="r" b="b"/>
            <a:pathLst>
              <a:path w="10692079" h="10692079">
                <a:moveTo>
                  <a:pt x="0" y="0"/>
                </a:moveTo>
                <a:lnTo>
                  <a:pt x="10692079" y="0"/>
                </a:lnTo>
                <a:lnTo>
                  <a:pt x="10692079" y="10692079"/>
                </a:lnTo>
                <a:lnTo>
                  <a:pt x="0" y="10692079"/>
                </a:lnTo>
                <a:lnTo>
                  <a:pt x="0" y="0"/>
                </a:lnTo>
                <a:close/>
              </a:path>
            </a:pathLst>
          </a:custGeom>
          <a:blipFill>
            <a:blip r:embed="rId21"/>
            <a:stretch>
              <a:fillRect/>
            </a:stretch>
          </a:blipFill>
        </p:spPr>
        <p:txBody>
          <a:bodyPr/>
          <a:lstStyle/>
          <a:p>
            <a:endParaRPr lang="tr-TR"/>
          </a:p>
        </p:txBody>
      </p:sp>
      <p:sp>
        <p:nvSpPr>
          <p:cNvPr id="62" name="Freeform 62"/>
          <p:cNvSpPr/>
          <p:nvPr/>
        </p:nvSpPr>
        <p:spPr>
          <a:xfrm>
            <a:off x="4984283" y="18949586"/>
            <a:ext cx="1556438" cy="408565"/>
          </a:xfrm>
          <a:custGeom>
            <a:avLst/>
            <a:gdLst/>
            <a:ahLst/>
            <a:cxnLst/>
            <a:rect l="l" t="t" r="r" b="b"/>
            <a:pathLst>
              <a:path w="1556438" h="408565">
                <a:moveTo>
                  <a:pt x="0" y="0"/>
                </a:moveTo>
                <a:lnTo>
                  <a:pt x="1556437" y="0"/>
                </a:lnTo>
                <a:lnTo>
                  <a:pt x="1556437" y="408565"/>
                </a:lnTo>
                <a:lnTo>
                  <a:pt x="0" y="40856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63" name="Freeform 63"/>
          <p:cNvSpPr/>
          <p:nvPr/>
        </p:nvSpPr>
        <p:spPr>
          <a:xfrm flipV="1">
            <a:off x="8729929" y="19739775"/>
            <a:ext cx="1556438" cy="408565"/>
          </a:xfrm>
          <a:custGeom>
            <a:avLst/>
            <a:gdLst/>
            <a:ahLst/>
            <a:cxnLst/>
            <a:rect l="l" t="t" r="r" b="b"/>
            <a:pathLst>
              <a:path w="1556438" h="408565">
                <a:moveTo>
                  <a:pt x="0" y="408565"/>
                </a:moveTo>
                <a:lnTo>
                  <a:pt x="1556438" y="408565"/>
                </a:lnTo>
                <a:lnTo>
                  <a:pt x="1556438" y="0"/>
                </a:lnTo>
                <a:lnTo>
                  <a:pt x="0" y="0"/>
                </a:lnTo>
                <a:lnTo>
                  <a:pt x="0" y="408565"/>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64" name="Freeform 64"/>
          <p:cNvSpPr/>
          <p:nvPr/>
        </p:nvSpPr>
        <p:spPr>
          <a:xfrm>
            <a:off x="12416256" y="19801950"/>
            <a:ext cx="1319579" cy="346389"/>
          </a:xfrm>
          <a:custGeom>
            <a:avLst/>
            <a:gdLst/>
            <a:ahLst/>
            <a:cxnLst/>
            <a:rect l="l" t="t" r="r" b="b"/>
            <a:pathLst>
              <a:path w="1319579" h="346389">
                <a:moveTo>
                  <a:pt x="0" y="0"/>
                </a:moveTo>
                <a:lnTo>
                  <a:pt x="1319579" y="0"/>
                </a:lnTo>
                <a:lnTo>
                  <a:pt x="1319579" y="346390"/>
                </a:lnTo>
                <a:lnTo>
                  <a:pt x="0" y="34639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65" name="Freeform 65"/>
          <p:cNvSpPr/>
          <p:nvPr/>
        </p:nvSpPr>
        <p:spPr>
          <a:xfrm flipV="1">
            <a:off x="16103829" y="19801950"/>
            <a:ext cx="1137673" cy="298639"/>
          </a:xfrm>
          <a:custGeom>
            <a:avLst/>
            <a:gdLst/>
            <a:ahLst/>
            <a:cxnLst/>
            <a:rect l="l" t="t" r="r" b="b"/>
            <a:pathLst>
              <a:path w="1137673" h="298639">
                <a:moveTo>
                  <a:pt x="0" y="298639"/>
                </a:moveTo>
                <a:lnTo>
                  <a:pt x="1137673" y="298639"/>
                </a:lnTo>
                <a:lnTo>
                  <a:pt x="1137673" y="0"/>
                </a:lnTo>
                <a:lnTo>
                  <a:pt x="0" y="0"/>
                </a:lnTo>
                <a:lnTo>
                  <a:pt x="0" y="298639"/>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66" name="Freeform 66"/>
          <p:cNvSpPr/>
          <p:nvPr/>
        </p:nvSpPr>
        <p:spPr>
          <a:xfrm>
            <a:off x="5320365" y="18033739"/>
            <a:ext cx="941746" cy="915848"/>
          </a:xfrm>
          <a:custGeom>
            <a:avLst/>
            <a:gdLst/>
            <a:ahLst/>
            <a:cxnLst/>
            <a:rect l="l" t="t" r="r" b="b"/>
            <a:pathLst>
              <a:path w="941746" h="915848">
                <a:moveTo>
                  <a:pt x="0" y="0"/>
                </a:moveTo>
                <a:lnTo>
                  <a:pt x="941746" y="0"/>
                </a:lnTo>
                <a:lnTo>
                  <a:pt x="941746" y="915847"/>
                </a:lnTo>
                <a:lnTo>
                  <a:pt x="0" y="91584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tr-TR"/>
          </a:p>
        </p:txBody>
      </p:sp>
      <p:sp>
        <p:nvSpPr>
          <p:cNvPr id="67" name="TextBox 67"/>
          <p:cNvSpPr txBox="1"/>
          <p:nvPr/>
        </p:nvSpPr>
        <p:spPr>
          <a:xfrm>
            <a:off x="14235344" y="10067512"/>
            <a:ext cx="5149433" cy="513770"/>
          </a:xfrm>
          <a:prstGeom prst="rect">
            <a:avLst/>
          </a:prstGeom>
        </p:spPr>
        <p:txBody>
          <a:bodyPr lIns="0" tIns="0" rIns="0" bIns="0" rtlCol="0" anchor="t">
            <a:spAutoFit/>
          </a:bodyPr>
          <a:lstStyle/>
          <a:p>
            <a:pPr algn="ctr">
              <a:lnSpc>
                <a:spcPts val="4231"/>
              </a:lnSpc>
              <a:spcBef>
                <a:spcPct val="0"/>
              </a:spcBef>
            </a:pPr>
            <a:r>
              <a:rPr lang="en-US" sz="3022">
                <a:solidFill>
                  <a:srgbClr val="FFFFFF"/>
                </a:solidFill>
                <a:latin typeface="Gotham"/>
                <a:ea typeface="Gotham"/>
                <a:cs typeface="Gotham"/>
                <a:sym typeface="Gotham"/>
              </a:rPr>
              <a:t>SEGMENTATION</a:t>
            </a:r>
          </a:p>
        </p:txBody>
      </p:sp>
      <p:grpSp>
        <p:nvGrpSpPr>
          <p:cNvPr id="68" name="Group 68"/>
          <p:cNvGrpSpPr/>
          <p:nvPr/>
        </p:nvGrpSpPr>
        <p:grpSpPr>
          <a:xfrm>
            <a:off x="10032183" y="25487501"/>
            <a:ext cx="10249447" cy="4591437"/>
            <a:chOff x="0" y="0"/>
            <a:chExt cx="1540583" cy="690134"/>
          </a:xfrm>
        </p:grpSpPr>
        <p:sp>
          <p:nvSpPr>
            <p:cNvPr id="69" name="Freeform 69"/>
            <p:cNvSpPr/>
            <p:nvPr/>
          </p:nvSpPr>
          <p:spPr>
            <a:xfrm>
              <a:off x="0" y="0"/>
              <a:ext cx="1540583" cy="690134"/>
            </a:xfrm>
            <a:custGeom>
              <a:avLst/>
              <a:gdLst/>
              <a:ahLst/>
              <a:cxnLst/>
              <a:rect l="l" t="t" r="r" b="b"/>
              <a:pathLst>
                <a:path w="1540583" h="690134">
                  <a:moveTo>
                    <a:pt x="0" y="0"/>
                  </a:moveTo>
                  <a:lnTo>
                    <a:pt x="1540583" y="0"/>
                  </a:lnTo>
                  <a:lnTo>
                    <a:pt x="1540583" y="690134"/>
                  </a:lnTo>
                  <a:lnTo>
                    <a:pt x="0" y="690134"/>
                  </a:lnTo>
                  <a:close/>
                </a:path>
              </a:pathLst>
            </a:custGeom>
            <a:solidFill>
              <a:srgbClr val="FFFFFF"/>
            </a:solidFill>
            <a:ln w="38100" cap="sq">
              <a:solidFill>
                <a:srgbClr val="000000"/>
              </a:solidFill>
              <a:prstDash val="solid"/>
              <a:miter/>
            </a:ln>
          </p:spPr>
          <p:txBody>
            <a:bodyPr/>
            <a:lstStyle/>
            <a:p>
              <a:endParaRPr lang="tr-TR"/>
            </a:p>
          </p:txBody>
        </p:sp>
        <p:sp>
          <p:nvSpPr>
            <p:cNvPr id="70" name="TextBox 70"/>
            <p:cNvSpPr txBox="1"/>
            <p:nvPr/>
          </p:nvSpPr>
          <p:spPr>
            <a:xfrm>
              <a:off x="0" y="-38100"/>
              <a:ext cx="1540583" cy="728234"/>
            </a:xfrm>
            <a:prstGeom prst="rect">
              <a:avLst/>
            </a:prstGeom>
          </p:spPr>
          <p:txBody>
            <a:bodyPr lIns="33000" tIns="33000" rIns="33000" bIns="33000" rtlCol="0" anchor="ctr"/>
            <a:lstStyle/>
            <a:p>
              <a:pPr algn="l">
                <a:lnSpc>
                  <a:spcPts val="2637"/>
                </a:lnSpc>
                <a:spcBef>
                  <a:spcPct val="0"/>
                </a:spcBef>
              </a:pPr>
              <a:endParaRPr/>
            </a:p>
          </p:txBody>
        </p:sp>
      </p:grpSp>
      <p:grpSp>
        <p:nvGrpSpPr>
          <p:cNvPr id="71" name="Group 71"/>
          <p:cNvGrpSpPr/>
          <p:nvPr/>
        </p:nvGrpSpPr>
        <p:grpSpPr>
          <a:xfrm>
            <a:off x="9991049" y="24630889"/>
            <a:ext cx="10290581" cy="913975"/>
            <a:chOff x="0" y="0"/>
            <a:chExt cx="3558050" cy="316014"/>
          </a:xfrm>
        </p:grpSpPr>
        <p:sp>
          <p:nvSpPr>
            <p:cNvPr id="72" name="Freeform 72"/>
            <p:cNvSpPr/>
            <p:nvPr/>
          </p:nvSpPr>
          <p:spPr>
            <a:xfrm>
              <a:off x="0" y="0"/>
              <a:ext cx="3558050" cy="316014"/>
            </a:xfrm>
            <a:custGeom>
              <a:avLst/>
              <a:gdLst/>
              <a:ahLst/>
              <a:cxnLst/>
              <a:rect l="l" t="t" r="r" b="b"/>
              <a:pathLst>
                <a:path w="3558050" h="316014">
                  <a:moveTo>
                    <a:pt x="0" y="0"/>
                  </a:moveTo>
                  <a:lnTo>
                    <a:pt x="3558050" y="0"/>
                  </a:lnTo>
                  <a:lnTo>
                    <a:pt x="3558050" y="316014"/>
                  </a:lnTo>
                  <a:lnTo>
                    <a:pt x="0" y="316014"/>
                  </a:lnTo>
                  <a:close/>
                </a:path>
              </a:pathLst>
            </a:custGeom>
            <a:solidFill>
              <a:srgbClr val="050A30"/>
            </a:solidFill>
          </p:spPr>
          <p:txBody>
            <a:bodyPr/>
            <a:lstStyle/>
            <a:p>
              <a:endParaRPr lang="tr-TR"/>
            </a:p>
          </p:txBody>
        </p:sp>
        <p:sp>
          <p:nvSpPr>
            <p:cNvPr id="73" name="TextBox 73"/>
            <p:cNvSpPr txBox="1"/>
            <p:nvPr/>
          </p:nvSpPr>
          <p:spPr>
            <a:xfrm>
              <a:off x="0" y="-38100"/>
              <a:ext cx="3558050" cy="354114"/>
            </a:xfrm>
            <a:prstGeom prst="rect">
              <a:avLst/>
            </a:prstGeom>
          </p:spPr>
          <p:txBody>
            <a:bodyPr lIns="14346" tIns="14346" rIns="14346" bIns="14346" rtlCol="0" anchor="ctr"/>
            <a:lstStyle/>
            <a:p>
              <a:pPr algn="l">
                <a:lnSpc>
                  <a:spcPts val="2637"/>
                </a:lnSpc>
                <a:spcBef>
                  <a:spcPct val="0"/>
                </a:spcBef>
              </a:pPr>
              <a:endParaRPr/>
            </a:p>
          </p:txBody>
        </p:sp>
      </p:grpSp>
      <p:grpSp>
        <p:nvGrpSpPr>
          <p:cNvPr id="74" name="Group 74"/>
          <p:cNvGrpSpPr/>
          <p:nvPr/>
        </p:nvGrpSpPr>
        <p:grpSpPr>
          <a:xfrm>
            <a:off x="13735022" y="10614717"/>
            <a:ext cx="6490532" cy="5050700"/>
            <a:chOff x="0" y="0"/>
            <a:chExt cx="1027295" cy="799404"/>
          </a:xfrm>
        </p:grpSpPr>
        <p:sp>
          <p:nvSpPr>
            <p:cNvPr id="75" name="Freeform 75"/>
            <p:cNvSpPr/>
            <p:nvPr/>
          </p:nvSpPr>
          <p:spPr>
            <a:xfrm>
              <a:off x="0" y="0"/>
              <a:ext cx="1027295" cy="799404"/>
            </a:xfrm>
            <a:custGeom>
              <a:avLst/>
              <a:gdLst/>
              <a:ahLst/>
              <a:cxnLst/>
              <a:rect l="l" t="t" r="r" b="b"/>
              <a:pathLst>
                <a:path w="1027295" h="799404">
                  <a:moveTo>
                    <a:pt x="0" y="0"/>
                  </a:moveTo>
                  <a:lnTo>
                    <a:pt x="1027295" y="0"/>
                  </a:lnTo>
                  <a:lnTo>
                    <a:pt x="1027295" y="799404"/>
                  </a:lnTo>
                  <a:lnTo>
                    <a:pt x="0" y="799404"/>
                  </a:lnTo>
                  <a:close/>
                </a:path>
              </a:pathLst>
            </a:custGeom>
            <a:solidFill>
              <a:srgbClr val="FFFFFF"/>
            </a:solidFill>
            <a:ln w="38100" cap="sq">
              <a:solidFill>
                <a:srgbClr val="000000"/>
              </a:solidFill>
              <a:prstDash val="solid"/>
              <a:miter/>
            </a:ln>
          </p:spPr>
          <p:txBody>
            <a:bodyPr/>
            <a:lstStyle/>
            <a:p>
              <a:endParaRPr lang="tr-TR"/>
            </a:p>
          </p:txBody>
        </p:sp>
        <p:sp>
          <p:nvSpPr>
            <p:cNvPr id="76" name="TextBox 76"/>
            <p:cNvSpPr txBox="1"/>
            <p:nvPr/>
          </p:nvSpPr>
          <p:spPr>
            <a:xfrm>
              <a:off x="0" y="-38100"/>
              <a:ext cx="1027295" cy="837504"/>
            </a:xfrm>
            <a:prstGeom prst="rect">
              <a:avLst/>
            </a:prstGeom>
          </p:spPr>
          <p:txBody>
            <a:bodyPr lIns="33000" tIns="33000" rIns="33000" bIns="33000" rtlCol="0" anchor="ctr"/>
            <a:lstStyle/>
            <a:p>
              <a:pPr algn="l">
                <a:lnSpc>
                  <a:spcPts val="2637"/>
                </a:lnSpc>
                <a:spcBef>
                  <a:spcPct val="0"/>
                </a:spcBef>
              </a:pPr>
              <a:endParaRPr/>
            </a:p>
          </p:txBody>
        </p:sp>
      </p:grpSp>
      <p:grpSp>
        <p:nvGrpSpPr>
          <p:cNvPr id="77" name="Group 77"/>
          <p:cNvGrpSpPr/>
          <p:nvPr/>
        </p:nvGrpSpPr>
        <p:grpSpPr>
          <a:xfrm>
            <a:off x="13715972" y="9894872"/>
            <a:ext cx="6509582" cy="717996"/>
            <a:chOff x="0" y="0"/>
            <a:chExt cx="2370039" cy="261411"/>
          </a:xfrm>
        </p:grpSpPr>
        <p:sp>
          <p:nvSpPr>
            <p:cNvPr id="78" name="Freeform 78"/>
            <p:cNvSpPr/>
            <p:nvPr/>
          </p:nvSpPr>
          <p:spPr>
            <a:xfrm>
              <a:off x="0" y="0"/>
              <a:ext cx="2370039" cy="261411"/>
            </a:xfrm>
            <a:custGeom>
              <a:avLst/>
              <a:gdLst/>
              <a:ahLst/>
              <a:cxnLst/>
              <a:rect l="l" t="t" r="r" b="b"/>
              <a:pathLst>
                <a:path w="2370039" h="261411">
                  <a:moveTo>
                    <a:pt x="0" y="0"/>
                  </a:moveTo>
                  <a:lnTo>
                    <a:pt x="2370039" y="0"/>
                  </a:lnTo>
                  <a:lnTo>
                    <a:pt x="2370039" y="261411"/>
                  </a:lnTo>
                  <a:lnTo>
                    <a:pt x="0" y="261411"/>
                  </a:lnTo>
                  <a:close/>
                </a:path>
              </a:pathLst>
            </a:custGeom>
            <a:solidFill>
              <a:srgbClr val="050A30"/>
            </a:solidFill>
          </p:spPr>
          <p:txBody>
            <a:bodyPr/>
            <a:lstStyle/>
            <a:p>
              <a:endParaRPr lang="tr-TR"/>
            </a:p>
          </p:txBody>
        </p:sp>
        <p:sp>
          <p:nvSpPr>
            <p:cNvPr id="79" name="TextBox 79"/>
            <p:cNvSpPr txBox="1"/>
            <p:nvPr/>
          </p:nvSpPr>
          <p:spPr>
            <a:xfrm>
              <a:off x="0" y="-38100"/>
              <a:ext cx="2370039" cy="299511"/>
            </a:xfrm>
            <a:prstGeom prst="rect">
              <a:avLst/>
            </a:prstGeom>
          </p:spPr>
          <p:txBody>
            <a:bodyPr lIns="14346" tIns="14346" rIns="14346" bIns="14346" rtlCol="0" anchor="ctr"/>
            <a:lstStyle/>
            <a:p>
              <a:pPr algn="l">
                <a:lnSpc>
                  <a:spcPts val="2637"/>
                </a:lnSpc>
                <a:spcBef>
                  <a:spcPct val="0"/>
                </a:spcBef>
              </a:pPr>
              <a:endParaRPr/>
            </a:p>
          </p:txBody>
        </p:sp>
      </p:grpSp>
      <p:pic>
        <p:nvPicPr>
          <p:cNvPr id="80" name="Picture 80"/>
          <p:cNvPicPr>
            <a:picLocks noChangeAspect="1"/>
          </p:cNvPicPr>
          <p:nvPr/>
        </p:nvPicPr>
        <p:blipFill>
          <a:blip r:embed="rId26"/>
          <a:stretch>
            <a:fillRect/>
          </a:stretch>
        </p:blipFill>
        <p:spPr>
          <a:xfrm>
            <a:off x="9067930" y="24616614"/>
            <a:ext cx="12171954" cy="6396847"/>
          </a:xfrm>
          <a:prstGeom prst="rect">
            <a:avLst/>
          </a:prstGeom>
        </p:spPr>
      </p:pic>
      <p:grpSp>
        <p:nvGrpSpPr>
          <p:cNvPr id="81" name="Group 81"/>
          <p:cNvGrpSpPr/>
          <p:nvPr/>
        </p:nvGrpSpPr>
        <p:grpSpPr>
          <a:xfrm>
            <a:off x="1050637" y="6843516"/>
            <a:ext cx="10199184" cy="737020"/>
            <a:chOff x="0" y="0"/>
            <a:chExt cx="3188272" cy="230393"/>
          </a:xfrm>
        </p:grpSpPr>
        <p:sp>
          <p:nvSpPr>
            <p:cNvPr id="82" name="Freeform 82"/>
            <p:cNvSpPr/>
            <p:nvPr/>
          </p:nvSpPr>
          <p:spPr>
            <a:xfrm>
              <a:off x="0" y="0"/>
              <a:ext cx="3188272" cy="230393"/>
            </a:xfrm>
            <a:custGeom>
              <a:avLst/>
              <a:gdLst/>
              <a:ahLst/>
              <a:cxnLst/>
              <a:rect l="l" t="t" r="r" b="b"/>
              <a:pathLst>
                <a:path w="3188272" h="230393">
                  <a:moveTo>
                    <a:pt x="0" y="0"/>
                  </a:moveTo>
                  <a:lnTo>
                    <a:pt x="3188272" y="0"/>
                  </a:lnTo>
                  <a:lnTo>
                    <a:pt x="3188272" y="230393"/>
                  </a:lnTo>
                  <a:lnTo>
                    <a:pt x="0" y="230393"/>
                  </a:lnTo>
                  <a:close/>
                </a:path>
              </a:pathLst>
            </a:custGeom>
            <a:solidFill>
              <a:srgbClr val="050A30"/>
            </a:solidFill>
          </p:spPr>
          <p:txBody>
            <a:bodyPr/>
            <a:lstStyle/>
            <a:p>
              <a:endParaRPr lang="tr-TR"/>
            </a:p>
          </p:txBody>
        </p:sp>
        <p:sp>
          <p:nvSpPr>
            <p:cNvPr id="83" name="TextBox 83"/>
            <p:cNvSpPr txBox="1"/>
            <p:nvPr/>
          </p:nvSpPr>
          <p:spPr>
            <a:xfrm>
              <a:off x="0" y="-38100"/>
              <a:ext cx="3188272" cy="268493"/>
            </a:xfrm>
            <a:prstGeom prst="rect">
              <a:avLst/>
            </a:prstGeom>
          </p:spPr>
          <p:txBody>
            <a:bodyPr lIns="14346" tIns="14346" rIns="14346" bIns="14346" rtlCol="0" anchor="ctr"/>
            <a:lstStyle/>
            <a:p>
              <a:pPr algn="l">
                <a:lnSpc>
                  <a:spcPts val="2637"/>
                </a:lnSpc>
                <a:spcBef>
                  <a:spcPct val="0"/>
                </a:spcBef>
              </a:pPr>
              <a:endParaRPr/>
            </a:p>
          </p:txBody>
        </p:sp>
      </p:grpSp>
      <p:grpSp>
        <p:nvGrpSpPr>
          <p:cNvPr id="84" name="Group 84"/>
          <p:cNvGrpSpPr/>
          <p:nvPr/>
        </p:nvGrpSpPr>
        <p:grpSpPr>
          <a:xfrm>
            <a:off x="1050637" y="9875847"/>
            <a:ext cx="6544017" cy="737020"/>
            <a:chOff x="0" y="0"/>
            <a:chExt cx="2045664" cy="230393"/>
          </a:xfrm>
        </p:grpSpPr>
        <p:sp>
          <p:nvSpPr>
            <p:cNvPr id="85" name="Freeform 85"/>
            <p:cNvSpPr/>
            <p:nvPr/>
          </p:nvSpPr>
          <p:spPr>
            <a:xfrm>
              <a:off x="0" y="0"/>
              <a:ext cx="2045664" cy="230393"/>
            </a:xfrm>
            <a:custGeom>
              <a:avLst/>
              <a:gdLst/>
              <a:ahLst/>
              <a:cxnLst/>
              <a:rect l="l" t="t" r="r" b="b"/>
              <a:pathLst>
                <a:path w="2045664" h="230393">
                  <a:moveTo>
                    <a:pt x="0" y="0"/>
                  </a:moveTo>
                  <a:lnTo>
                    <a:pt x="2045664" y="0"/>
                  </a:lnTo>
                  <a:lnTo>
                    <a:pt x="2045664" y="230393"/>
                  </a:lnTo>
                  <a:lnTo>
                    <a:pt x="0" y="230393"/>
                  </a:lnTo>
                  <a:close/>
                </a:path>
              </a:pathLst>
            </a:custGeom>
            <a:solidFill>
              <a:srgbClr val="050A30"/>
            </a:solidFill>
          </p:spPr>
          <p:txBody>
            <a:bodyPr/>
            <a:lstStyle/>
            <a:p>
              <a:endParaRPr lang="tr-TR"/>
            </a:p>
          </p:txBody>
        </p:sp>
        <p:sp>
          <p:nvSpPr>
            <p:cNvPr id="86" name="TextBox 86"/>
            <p:cNvSpPr txBox="1"/>
            <p:nvPr/>
          </p:nvSpPr>
          <p:spPr>
            <a:xfrm>
              <a:off x="0" y="-38100"/>
              <a:ext cx="2045664" cy="268493"/>
            </a:xfrm>
            <a:prstGeom prst="rect">
              <a:avLst/>
            </a:prstGeom>
          </p:spPr>
          <p:txBody>
            <a:bodyPr lIns="14346" tIns="14346" rIns="14346" bIns="14346" rtlCol="0" anchor="ctr"/>
            <a:lstStyle/>
            <a:p>
              <a:pPr algn="l">
                <a:lnSpc>
                  <a:spcPts val="2637"/>
                </a:lnSpc>
                <a:spcBef>
                  <a:spcPct val="0"/>
                </a:spcBef>
              </a:pPr>
              <a:endParaRPr/>
            </a:p>
          </p:txBody>
        </p:sp>
      </p:grpSp>
      <p:sp>
        <p:nvSpPr>
          <p:cNvPr id="87" name="TextBox 87"/>
          <p:cNvSpPr txBox="1"/>
          <p:nvPr/>
        </p:nvSpPr>
        <p:spPr>
          <a:xfrm>
            <a:off x="1013075" y="9903066"/>
            <a:ext cx="6868605" cy="574621"/>
          </a:xfrm>
          <a:prstGeom prst="rect">
            <a:avLst/>
          </a:prstGeom>
        </p:spPr>
        <p:txBody>
          <a:bodyPr lIns="0" tIns="0" rIns="0" bIns="0" rtlCol="0" anchor="t">
            <a:spAutoFit/>
          </a:bodyPr>
          <a:lstStyle/>
          <a:p>
            <a:pPr algn="ctr">
              <a:lnSpc>
                <a:spcPts val="4618"/>
              </a:lnSpc>
              <a:spcBef>
                <a:spcPct val="0"/>
              </a:spcBef>
            </a:pPr>
            <a:r>
              <a:rPr lang="en-US" sz="3298">
                <a:solidFill>
                  <a:srgbClr val="FFFFFF"/>
                </a:solidFill>
                <a:latin typeface="Gotham"/>
                <a:ea typeface="Gotham"/>
                <a:cs typeface="Gotham"/>
                <a:sym typeface="Gotham"/>
              </a:rPr>
              <a:t>SOFTWARE DEVELOPMENT</a:t>
            </a:r>
          </a:p>
        </p:txBody>
      </p:sp>
      <p:grpSp>
        <p:nvGrpSpPr>
          <p:cNvPr id="88" name="Group 88"/>
          <p:cNvGrpSpPr/>
          <p:nvPr/>
        </p:nvGrpSpPr>
        <p:grpSpPr>
          <a:xfrm>
            <a:off x="11637867" y="3536026"/>
            <a:ext cx="8643763" cy="737020"/>
            <a:chOff x="0" y="0"/>
            <a:chExt cx="2702046" cy="230393"/>
          </a:xfrm>
        </p:grpSpPr>
        <p:sp>
          <p:nvSpPr>
            <p:cNvPr id="89" name="Freeform 89"/>
            <p:cNvSpPr/>
            <p:nvPr/>
          </p:nvSpPr>
          <p:spPr>
            <a:xfrm>
              <a:off x="0" y="0"/>
              <a:ext cx="2702046" cy="230393"/>
            </a:xfrm>
            <a:custGeom>
              <a:avLst/>
              <a:gdLst/>
              <a:ahLst/>
              <a:cxnLst/>
              <a:rect l="l" t="t" r="r" b="b"/>
              <a:pathLst>
                <a:path w="2702046" h="230393">
                  <a:moveTo>
                    <a:pt x="0" y="0"/>
                  </a:moveTo>
                  <a:lnTo>
                    <a:pt x="2702046" y="0"/>
                  </a:lnTo>
                  <a:lnTo>
                    <a:pt x="2702046" y="230393"/>
                  </a:lnTo>
                  <a:lnTo>
                    <a:pt x="0" y="230393"/>
                  </a:lnTo>
                  <a:close/>
                </a:path>
              </a:pathLst>
            </a:custGeom>
            <a:solidFill>
              <a:srgbClr val="050A30"/>
            </a:solidFill>
          </p:spPr>
          <p:txBody>
            <a:bodyPr/>
            <a:lstStyle/>
            <a:p>
              <a:endParaRPr lang="tr-TR"/>
            </a:p>
          </p:txBody>
        </p:sp>
        <p:sp>
          <p:nvSpPr>
            <p:cNvPr id="90" name="TextBox 90"/>
            <p:cNvSpPr txBox="1"/>
            <p:nvPr/>
          </p:nvSpPr>
          <p:spPr>
            <a:xfrm>
              <a:off x="0" y="-38100"/>
              <a:ext cx="2702046" cy="268493"/>
            </a:xfrm>
            <a:prstGeom prst="rect">
              <a:avLst/>
            </a:prstGeom>
          </p:spPr>
          <p:txBody>
            <a:bodyPr lIns="14346" tIns="14346" rIns="14346" bIns="14346" rtlCol="0" anchor="ctr"/>
            <a:lstStyle/>
            <a:p>
              <a:pPr algn="l">
                <a:lnSpc>
                  <a:spcPts val="2637"/>
                </a:lnSpc>
                <a:spcBef>
                  <a:spcPct val="0"/>
                </a:spcBef>
              </a:pPr>
              <a:endParaRPr/>
            </a:p>
          </p:txBody>
        </p:sp>
      </p:grpSp>
      <p:grpSp>
        <p:nvGrpSpPr>
          <p:cNvPr id="91" name="Group 91"/>
          <p:cNvGrpSpPr/>
          <p:nvPr/>
        </p:nvGrpSpPr>
        <p:grpSpPr>
          <a:xfrm>
            <a:off x="7736838" y="9875847"/>
            <a:ext cx="5656971" cy="737020"/>
            <a:chOff x="0" y="0"/>
            <a:chExt cx="1768373" cy="230393"/>
          </a:xfrm>
        </p:grpSpPr>
        <p:sp>
          <p:nvSpPr>
            <p:cNvPr id="92" name="Freeform 92"/>
            <p:cNvSpPr/>
            <p:nvPr/>
          </p:nvSpPr>
          <p:spPr>
            <a:xfrm>
              <a:off x="0" y="0"/>
              <a:ext cx="1768373" cy="230393"/>
            </a:xfrm>
            <a:custGeom>
              <a:avLst/>
              <a:gdLst/>
              <a:ahLst/>
              <a:cxnLst/>
              <a:rect l="l" t="t" r="r" b="b"/>
              <a:pathLst>
                <a:path w="1768373" h="230393">
                  <a:moveTo>
                    <a:pt x="0" y="0"/>
                  </a:moveTo>
                  <a:lnTo>
                    <a:pt x="1768373" y="0"/>
                  </a:lnTo>
                  <a:lnTo>
                    <a:pt x="1768373" y="230393"/>
                  </a:lnTo>
                  <a:lnTo>
                    <a:pt x="0" y="230393"/>
                  </a:lnTo>
                  <a:close/>
                </a:path>
              </a:pathLst>
            </a:custGeom>
            <a:solidFill>
              <a:srgbClr val="050A30"/>
            </a:solidFill>
          </p:spPr>
          <p:txBody>
            <a:bodyPr/>
            <a:lstStyle/>
            <a:p>
              <a:endParaRPr lang="tr-TR"/>
            </a:p>
          </p:txBody>
        </p:sp>
        <p:sp>
          <p:nvSpPr>
            <p:cNvPr id="93" name="TextBox 93"/>
            <p:cNvSpPr txBox="1"/>
            <p:nvPr/>
          </p:nvSpPr>
          <p:spPr>
            <a:xfrm>
              <a:off x="0" y="-38100"/>
              <a:ext cx="1768373" cy="268493"/>
            </a:xfrm>
            <a:prstGeom prst="rect">
              <a:avLst/>
            </a:prstGeom>
          </p:spPr>
          <p:txBody>
            <a:bodyPr lIns="14346" tIns="14346" rIns="14346" bIns="14346" rtlCol="0" anchor="ctr"/>
            <a:lstStyle/>
            <a:p>
              <a:pPr algn="l">
                <a:lnSpc>
                  <a:spcPts val="2637"/>
                </a:lnSpc>
                <a:spcBef>
                  <a:spcPct val="0"/>
                </a:spcBef>
              </a:pPr>
              <a:endParaRPr/>
            </a:p>
          </p:txBody>
        </p:sp>
      </p:grpSp>
      <p:pic>
        <p:nvPicPr>
          <p:cNvPr id="94" name="Picture 94"/>
          <p:cNvPicPr>
            <a:picLocks noChangeAspect="1"/>
          </p:cNvPicPr>
          <p:nvPr/>
        </p:nvPicPr>
        <p:blipFill>
          <a:blip r:embed="rId27"/>
          <a:stretch>
            <a:fillRect/>
          </a:stretch>
        </p:blipFill>
        <p:spPr>
          <a:xfrm>
            <a:off x="6219384" y="20805224"/>
            <a:ext cx="3270464" cy="3787816"/>
          </a:xfrm>
          <a:prstGeom prst="rect">
            <a:avLst/>
          </a:prstGeom>
        </p:spPr>
      </p:pic>
      <p:pic>
        <p:nvPicPr>
          <p:cNvPr id="95" name="Picture 95"/>
          <p:cNvPicPr>
            <a:picLocks noChangeAspect="1"/>
          </p:cNvPicPr>
          <p:nvPr/>
        </p:nvPicPr>
        <p:blipFill>
          <a:blip r:embed="rId28"/>
          <a:stretch>
            <a:fillRect/>
          </a:stretch>
        </p:blipFill>
        <p:spPr>
          <a:xfrm>
            <a:off x="9905711" y="20805224"/>
            <a:ext cx="3270464" cy="3787816"/>
          </a:xfrm>
          <a:prstGeom prst="rect">
            <a:avLst/>
          </a:prstGeom>
        </p:spPr>
      </p:pic>
      <p:pic>
        <p:nvPicPr>
          <p:cNvPr id="96" name="Picture 96"/>
          <p:cNvPicPr>
            <a:picLocks noChangeAspect="1"/>
          </p:cNvPicPr>
          <p:nvPr/>
        </p:nvPicPr>
        <p:blipFill>
          <a:blip r:embed="rId29"/>
          <a:stretch>
            <a:fillRect/>
          </a:stretch>
        </p:blipFill>
        <p:spPr>
          <a:xfrm>
            <a:off x="13479206" y="20805224"/>
            <a:ext cx="3270464" cy="3787816"/>
          </a:xfrm>
          <a:prstGeom prst="rect">
            <a:avLst/>
          </a:prstGeom>
        </p:spPr>
      </p:pic>
      <p:pic>
        <p:nvPicPr>
          <p:cNvPr id="97" name="Picture 97"/>
          <p:cNvPicPr>
            <a:picLocks noChangeAspect="1"/>
          </p:cNvPicPr>
          <p:nvPr/>
        </p:nvPicPr>
        <p:blipFill>
          <a:blip r:embed="rId30"/>
          <a:stretch>
            <a:fillRect/>
          </a:stretch>
        </p:blipFill>
        <p:spPr>
          <a:xfrm>
            <a:off x="17026466" y="20785147"/>
            <a:ext cx="3281453" cy="3800543"/>
          </a:xfrm>
          <a:prstGeom prst="rect">
            <a:avLst/>
          </a:prstGeom>
        </p:spPr>
      </p:pic>
      <p:sp>
        <p:nvSpPr>
          <p:cNvPr id="98" name="Freeform 98"/>
          <p:cNvSpPr/>
          <p:nvPr/>
        </p:nvSpPr>
        <p:spPr>
          <a:xfrm>
            <a:off x="5043305" y="22429915"/>
            <a:ext cx="1556438" cy="408565"/>
          </a:xfrm>
          <a:custGeom>
            <a:avLst/>
            <a:gdLst/>
            <a:ahLst/>
            <a:cxnLst/>
            <a:rect l="l" t="t" r="r" b="b"/>
            <a:pathLst>
              <a:path w="1556438" h="408565">
                <a:moveTo>
                  <a:pt x="0" y="0"/>
                </a:moveTo>
                <a:lnTo>
                  <a:pt x="1556438" y="0"/>
                </a:lnTo>
                <a:lnTo>
                  <a:pt x="1556438" y="408565"/>
                </a:lnTo>
                <a:lnTo>
                  <a:pt x="0" y="40856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99" name="Freeform 99"/>
          <p:cNvSpPr/>
          <p:nvPr/>
        </p:nvSpPr>
        <p:spPr>
          <a:xfrm flipV="1">
            <a:off x="8788952" y="23220104"/>
            <a:ext cx="1556438" cy="408565"/>
          </a:xfrm>
          <a:custGeom>
            <a:avLst/>
            <a:gdLst/>
            <a:ahLst/>
            <a:cxnLst/>
            <a:rect l="l" t="t" r="r" b="b"/>
            <a:pathLst>
              <a:path w="1556438" h="408565">
                <a:moveTo>
                  <a:pt x="0" y="408564"/>
                </a:moveTo>
                <a:lnTo>
                  <a:pt x="1556438" y="408564"/>
                </a:lnTo>
                <a:lnTo>
                  <a:pt x="1556438" y="0"/>
                </a:lnTo>
                <a:lnTo>
                  <a:pt x="0" y="0"/>
                </a:lnTo>
                <a:lnTo>
                  <a:pt x="0" y="408564"/>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100" name="Freeform 100"/>
          <p:cNvSpPr/>
          <p:nvPr/>
        </p:nvSpPr>
        <p:spPr>
          <a:xfrm>
            <a:off x="12475278" y="23282279"/>
            <a:ext cx="1319579" cy="346389"/>
          </a:xfrm>
          <a:custGeom>
            <a:avLst/>
            <a:gdLst/>
            <a:ahLst/>
            <a:cxnLst/>
            <a:rect l="l" t="t" r="r" b="b"/>
            <a:pathLst>
              <a:path w="1319579" h="346389">
                <a:moveTo>
                  <a:pt x="0" y="0"/>
                </a:moveTo>
                <a:lnTo>
                  <a:pt x="1319579" y="0"/>
                </a:lnTo>
                <a:lnTo>
                  <a:pt x="1319579" y="346389"/>
                </a:lnTo>
                <a:lnTo>
                  <a:pt x="0" y="34638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101" name="Freeform 101"/>
          <p:cNvSpPr/>
          <p:nvPr/>
        </p:nvSpPr>
        <p:spPr>
          <a:xfrm flipV="1">
            <a:off x="16162852" y="23282279"/>
            <a:ext cx="1137673" cy="298639"/>
          </a:xfrm>
          <a:custGeom>
            <a:avLst/>
            <a:gdLst/>
            <a:ahLst/>
            <a:cxnLst/>
            <a:rect l="l" t="t" r="r" b="b"/>
            <a:pathLst>
              <a:path w="1137673" h="298639">
                <a:moveTo>
                  <a:pt x="0" y="298639"/>
                </a:moveTo>
                <a:lnTo>
                  <a:pt x="1137673" y="298639"/>
                </a:lnTo>
                <a:lnTo>
                  <a:pt x="1137673" y="0"/>
                </a:lnTo>
                <a:lnTo>
                  <a:pt x="0" y="0"/>
                </a:lnTo>
                <a:lnTo>
                  <a:pt x="0" y="298639"/>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102" name="Freeform 102"/>
          <p:cNvSpPr/>
          <p:nvPr/>
        </p:nvSpPr>
        <p:spPr>
          <a:xfrm>
            <a:off x="5379388" y="21514067"/>
            <a:ext cx="941746" cy="915848"/>
          </a:xfrm>
          <a:custGeom>
            <a:avLst/>
            <a:gdLst/>
            <a:ahLst/>
            <a:cxnLst/>
            <a:rect l="l" t="t" r="r" b="b"/>
            <a:pathLst>
              <a:path w="941746" h="915848">
                <a:moveTo>
                  <a:pt x="0" y="0"/>
                </a:moveTo>
                <a:lnTo>
                  <a:pt x="941746" y="0"/>
                </a:lnTo>
                <a:lnTo>
                  <a:pt x="941746" y="915848"/>
                </a:lnTo>
                <a:lnTo>
                  <a:pt x="0" y="915848"/>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tr-TR"/>
          </a:p>
        </p:txBody>
      </p:sp>
      <p:sp>
        <p:nvSpPr>
          <p:cNvPr id="103" name="Freeform 103"/>
          <p:cNvSpPr/>
          <p:nvPr/>
        </p:nvSpPr>
        <p:spPr>
          <a:xfrm>
            <a:off x="9042756" y="17975192"/>
            <a:ext cx="1243611" cy="1243611"/>
          </a:xfrm>
          <a:custGeom>
            <a:avLst/>
            <a:gdLst/>
            <a:ahLst/>
            <a:cxnLst/>
            <a:rect l="l" t="t" r="r" b="b"/>
            <a:pathLst>
              <a:path w="1243611" h="1243611">
                <a:moveTo>
                  <a:pt x="0" y="0"/>
                </a:moveTo>
                <a:lnTo>
                  <a:pt x="1243611" y="0"/>
                </a:lnTo>
                <a:lnTo>
                  <a:pt x="1243611" y="1243611"/>
                </a:lnTo>
                <a:lnTo>
                  <a:pt x="0" y="1243611"/>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tr-TR"/>
          </a:p>
        </p:txBody>
      </p:sp>
      <p:sp>
        <p:nvSpPr>
          <p:cNvPr id="104" name="Freeform 104"/>
          <p:cNvSpPr/>
          <p:nvPr/>
        </p:nvSpPr>
        <p:spPr>
          <a:xfrm>
            <a:off x="9046879" y="21525564"/>
            <a:ext cx="1243611" cy="1243611"/>
          </a:xfrm>
          <a:custGeom>
            <a:avLst/>
            <a:gdLst/>
            <a:ahLst/>
            <a:cxnLst/>
            <a:rect l="l" t="t" r="r" b="b"/>
            <a:pathLst>
              <a:path w="1243611" h="1243611">
                <a:moveTo>
                  <a:pt x="0" y="0"/>
                </a:moveTo>
                <a:lnTo>
                  <a:pt x="1243611" y="0"/>
                </a:lnTo>
                <a:lnTo>
                  <a:pt x="1243611" y="1243610"/>
                </a:lnTo>
                <a:lnTo>
                  <a:pt x="0" y="1243610"/>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tr-TR"/>
          </a:p>
        </p:txBody>
      </p:sp>
      <p:sp>
        <p:nvSpPr>
          <p:cNvPr id="105" name="Freeform 105"/>
          <p:cNvSpPr/>
          <p:nvPr/>
        </p:nvSpPr>
        <p:spPr>
          <a:xfrm>
            <a:off x="12604618" y="18010389"/>
            <a:ext cx="1111354" cy="1486761"/>
          </a:xfrm>
          <a:custGeom>
            <a:avLst/>
            <a:gdLst/>
            <a:ahLst/>
            <a:cxnLst/>
            <a:rect l="l" t="t" r="r" b="b"/>
            <a:pathLst>
              <a:path w="1111354" h="1486761">
                <a:moveTo>
                  <a:pt x="0" y="0"/>
                </a:moveTo>
                <a:lnTo>
                  <a:pt x="1111354" y="0"/>
                </a:lnTo>
                <a:lnTo>
                  <a:pt x="1111354" y="1486761"/>
                </a:lnTo>
                <a:lnTo>
                  <a:pt x="0" y="1486761"/>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tr-TR"/>
          </a:p>
        </p:txBody>
      </p:sp>
      <p:sp>
        <p:nvSpPr>
          <p:cNvPr id="106" name="Freeform 106"/>
          <p:cNvSpPr/>
          <p:nvPr/>
        </p:nvSpPr>
        <p:spPr>
          <a:xfrm>
            <a:off x="12738415" y="21514067"/>
            <a:ext cx="1111354" cy="1486761"/>
          </a:xfrm>
          <a:custGeom>
            <a:avLst/>
            <a:gdLst/>
            <a:ahLst/>
            <a:cxnLst/>
            <a:rect l="l" t="t" r="r" b="b"/>
            <a:pathLst>
              <a:path w="1111354" h="1486761">
                <a:moveTo>
                  <a:pt x="0" y="0"/>
                </a:moveTo>
                <a:lnTo>
                  <a:pt x="1111353" y="0"/>
                </a:lnTo>
                <a:lnTo>
                  <a:pt x="1111353" y="1486762"/>
                </a:lnTo>
                <a:lnTo>
                  <a:pt x="0" y="1486762"/>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txBody>
          <a:bodyPr/>
          <a:lstStyle/>
          <a:p>
            <a:endParaRPr lang="tr-TR"/>
          </a:p>
        </p:txBody>
      </p:sp>
      <p:sp>
        <p:nvSpPr>
          <p:cNvPr id="107" name="Freeform 107"/>
          <p:cNvSpPr/>
          <p:nvPr/>
        </p:nvSpPr>
        <p:spPr>
          <a:xfrm>
            <a:off x="13934487" y="10700442"/>
            <a:ext cx="5973033" cy="4870374"/>
          </a:xfrm>
          <a:custGeom>
            <a:avLst/>
            <a:gdLst/>
            <a:ahLst/>
            <a:cxnLst/>
            <a:rect l="l" t="t" r="r" b="b"/>
            <a:pathLst>
              <a:path w="5973033" h="4870374">
                <a:moveTo>
                  <a:pt x="0" y="0"/>
                </a:moveTo>
                <a:lnTo>
                  <a:pt x="5973033" y="0"/>
                </a:lnTo>
                <a:lnTo>
                  <a:pt x="5973033" y="4870373"/>
                </a:lnTo>
                <a:lnTo>
                  <a:pt x="0" y="4870373"/>
                </a:lnTo>
                <a:lnTo>
                  <a:pt x="0" y="0"/>
                </a:lnTo>
                <a:close/>
              </a:path>
            </a:pathLst>
          </a:custGeom>
          <a:blipFill>
            <a:blip r:embed="rId35"/>
            <a:stretch>
              <a:fillRect t="-2336" b="-2336"/>
            </a:stretch>
          </a:blipFill>
        </p:spPr>
        <p:txBody>
          <a:bodyPr/>
          <a:lstStyle/>
          <a:p>
            <a:endParaRPr lang="tr-TR"/>
          </a:p>
        </p:txBody>
      </p:sp>
      <p:sp>
        <p:nvSpPr>
          <p:cNvPr id="108" name="TextBox 108"/>
          <p:cNvSpPr txBox="1"/>
          <p:nvPr/>
        </p:nvSpPr>
        <p:spPr>
          <a:xfrm>
            <a:off x="2793458" y="264499"/>
            <a:ext cx="17053073" cy="1183740"/>
          </a:xfrm>
          <a:prstGeom prst="rect">
            <a:avLst/>
          </a:prstGeom>
        </p:spPr>
        <p:txBody>
          <a:bodyPr lIns="0" tIns="0" rIns="0" bIns="0" rtlCol="0" anchor="t">
            <a:spAutoFit/>
          </a:bodyPr>
          <a:lstStyle/>
          <a:p>
            <a:pPr algn="ctr">
              <a:lnSpc>
                <a:spcPts val="9607"/>
              </a:lnSpc>
              <a:spcBef>
                <a:spcPct val="0"/>
              </a:spcBef>
            </a:pPr>
            <a:r>
              <a:rPr lang="en-US" sz="6862">
                <a:solidFill>
                  <a:srgbClr val="000000"/>
                </a:solidFill>
                <a:latin typeface="Gotham"/>
                <a:ea typeface="Gotham"/>
                <a:cs typeface="Gotham"/>
                <a:sym typeface="Gotham"/>
              </a:rPr>
              <a:t>NAILART WITH AI</a:t>
            </a:r>
          </a:p>
        </p:txBody>
      </p:sp>
      <p:sp>
        <p:nvSpPr>
          <p:cNvPr id="109" name="TextBox 109"/>
          <p:cNvSpPr txBox="1"/>
          <p:nvPr/>
        </p:nvSpPr>
        <p:spPr>
          <a:xfrm>
            <a:off x="3117649" y="3616457"/>
            <a:ext cx="5997524" cy="580390"/>
          </a:xfrm>
          <a:prstGeom prst="rect">
            <a:avLst/>
          </a:prstGeom>
        </p:spPr>
        <p:txBody>
          <a:bodyPr lIns="0" tIns="0" rIns="0" bIns="0" rtlCol="0" anchor="t">
            <a:spAutoFit/>
          </a:bodyPr>
          <a:lstStyle/>
          <a:p>
            <a:pPr algn="ctr">
              <a:lnSpc>
                <a:spcPts val="4759"/>
              </a:lnSpc>
              <a:spcBef>
                <a:spcPct val="0"/>
              </a:spcBef>
            </a:pPr>
            <a:r>
              <a:rPr lang="en-US" sz="3399">
                <a:solidFill>
                  <a:srgbClr val="FFFFFF"/>
                </a:solidFill>
                <a:latin typeface="Gotham"/>
                <a:ea typeface="Gotham"/>
                <a:cs typeface="Gotham"/>
                <a:sym typeface="Gotham"/>
              </a:rPr>
              <a:t>INTRODUCTION</a:t>
            </a:r>
          </a:p>
        </p:txBody>
      </p:sp>
      <p:sp>
        <p:nvSpPr>
          <p:cNvPr id="110" name="TextBox 110"/>
          <p:cNvSpPr txBox="1"/>
          <p:nvPr/>
        </p:nvSpPr>
        <p:spPr>
          <a:xfrm>
            <a:off x="1112260" y="4446391"/>
            <a:ext cx="10038374" cy="1758950"/>
          </a:xfrm>
          <a:prstGeom prst="rect">
            <a:avLst/>
          </a:prstGeom>
        </p:spPr>
        <p:txBody>
          <a:bodyPr lIns="0" tIns="0" rIns="0" bIns="0" rtlCol="0" anchor="t">
            <a:spAutoFit/>
          </a:bodyPr>
          <a:lstStyle/>
          <a:p>
            <a:pPr algn="just">
              <a:lnSpc>
                <a:spcPts val="2800"/>
              </a:lnSpc>
            </a:pPr>
            <a:r>
              <a:rPr lang="en-US" sz="2000">
                <a:solidFill>
                  <a:srgbClr val="000000"/>
                </a:solidFill>
                <a:latin typeface="Gotham"/>
                <a:ea typeface="Gotham"/>
                <a:cs typeface="Gotham"/>
                <a:sym typeface="Gotham"/>
              </a:rPr>
              <a:t>The project introduces an AI-powered platform that lets users preview nail styles by uploading photos of their hands. Leveraging advanced models such as SAM for segmentation, Neural Style Transfer, and Prompt Engineering for style transfer, it provides a personalized and innovative solution for digital nail art in the cosmetics industry.</a:t>
            </a:r>
          </a:p>
        </p:txBody>
      </p:sp>
      <p:sp>
        <p:nvSpPr>
          <p:cNvPr id="111" name="TextBox 111"/>
          <p:cNvSpPr txBox="1"/>
          <p:nvPr/>
        </p:nvSpPr>
        <p:spPr>
          <a:xfrm>
            <a:off x="4209648" y="1510695"/>
            <a:ext cx="13661081" cy="1653540"/>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Canva Sans"/>
                <a:ea typeface="Canva Sans"/>
                <a:cs typeface="Canva Sans"/>
                <a:sym typeface="Canva Sans"/>
              </a:rPr>
              <a:t>  Dr. Atilla Özgür, Dr. Fatih Nar</a:t>
            </a:r>
          </a:p>
          <a:p>
            <a:pPr algn="ctr">
              <a:lnSpc>
                <a:spcPts val="3359"/>
              </a:lnSpc>
              <a:spcBef>
                <a:spcPct val="0"/>
              </a:spcBef>
            </a:pPr>
            <a:r>
              <a:rPr lang="en-US" sz="2400">
                <a:solidFill>
                  <a:srgbClr val="000000"/>
                </a:solidFill>
                <a:latin typeface="Canva Sans"/>
                <a:ea typeface="Canva Sans"/>
                <a:cs typeface="Canva Sans"/>
                <a:sym typeface="Canva Sans"/>
              </a:rPr>
              <a:t>Erencan Yakut, Beyza Nur Deliktaş, Mustafa Erdem Gülsoy, Gürkan Er</a:t>
            </a:r>
          </a:p>
          <a:p>
            <a:pPr algn="ctr">
              <a:lnSpc>
                <a:spcPts val="3359"/>
              </a:lnSpc>
              <a:spcBef>
                <a:spcPct val="0"/>
              </a:spcBef>
            </a:pPr>
            <a:r>
              <a:rPr lang="en-US" sz="2400">
                <a:solidFill>
                  <a:srgbClr val="000000"/>
                </a:solidFill>
                <a:latin typeface="Canva Sans"/>
                <a:ea typeface="Canva Sans"/>
                <a:cs typeface="Canva Sans"/>
                <a:sym typeface="Canva Sans"/>
              </a:rPr>
              <a:t>Department of Computer Engineering, Ankara Yıldırım Beyazıt University</a:t>
            </a:r>
          </a:p>
          <a:p>
            <a:pPr algn="ctr">
              <a:lnSpc>
                <a:spcPts val="3359"/>
              </a:lnSpc>
              <a:spcBef>
                <a:spcPct val="0"/>
              </a:spcBef>
            </a:pPr>
            <a:endParaRPr lang="en-US" sz="2400">
              <a:solidFill>
                <a:srgbClr val="000000"/>
              </a:solidFill>
              <a:latin typeface="Canva Sans"/>
              <a:ea typeface="Canva Sans"/>
              <a:cs typeface="Canva Sans"/>
              <a:sym typeface="Canva Sans"/>
            </a:endParaRPr>
          </a:p>
        </p:txBody>
      </p:sp>
      <p:sp>
        <p:nvSpPr>
          <p:cNvPr id="112" name="TextBox 112"/>
          <p:cNvSpPr txBox="1"/>
          <p:nvPr/>
        </p:nvSpPr>
        <p:spPr>
          <a:xfrm>
            <a:off x="17682197" y="2327940"/>
            <a:ext cx="3126806" cy="698022"/>
          </a:xfrm>
          <a:prstGeom prst="rect">
            <a:avLst/>
          </a:prstGeom>
        </p:spPr>
        <p:txBody>
          <a:bodyPr lIns="0" tIns="0" rIns="0" bIns="0" rtlCol="0" anchor="t">
            <a:spAutoFit/>
          </a:bodyPr>
          <a:lstStyle/>
          <a:p>
            <a:pPr algn="ctr">
              <a:lnSpc>
                <a:spcPts val="1891"/>
              </a:lnSpc>
              <a:spcBef>
                <a:spcPct val="0"/>
              </a:spcBef>
            </a:pPr>
            <a:r>
              <a:rPr lang="en-US" sz="1351">
                <a:solidFill>
                  <a:srgbClr val="000000"/>
                </a:solidFill>
                <a:latin typeface="Canva Sans"/>
                <a:ea typeface="Canva Sans"/>
                <a:cs typeface="Canva Sans"/>
                <a:sym typeface="Canva Sans"/>
              </a:rPr>
              <a:t>2209-A - Üniversite Öğrencileri Araştırma Projeleri Destekleme Programı</a:t>
            </a:r>
          </a:p>
        </p:txBody>
      </p:sp>
      <p:sp>
        <p:nvSpPr>
          <p:cNvPr id="113" name="TextBox 113"/>
          <p:cNvSpPr txBox="1"/>
          <p:nvPr/>
        </p:nvSpPr>
        <p:spPr>
          <a:xfrm>
            <a:off x="11842408" y="4439487"/>
            <a:ext cx="7947259" cy="1054100"/>
          </a:xfrm>
          <a:prstGeom prst="rect">
            <a:avLst/>
          </a:prstGeom>
        </p:spPr>
        <p:txBody>
          <a:bodyPr lIns="0" tIns="0" rIns="0" bIns="0" rtlCol="0" anchor="t">
            <a:spAutoFit/>
          </a:bodyPr>
          <a:lstStyle/>
          <a:p>
            <a:pPr algn="just">
              <a:lnSpc>
                <a:spcPts val="2800"/>
              </a:lnSpc>
            </a:pPr>
            <a:r>
              <a:rPr lang="en-US" sz="2000">
                <a:solidFill>
                  <a:srgbClr val="000000"/>
                </a:solidFill>
                <a:latin typeface="Gotham"/>
                <a:ea typeface="Gotham"/>
                <a:cs typeface="Gotham"/>
                <a:sym typeface="Gotham"/>
              </a:rPr>
              <a:t>We developed an automated data scraping system using Selenium to collect nail images from Instagram and Google Images.</a:t>
            </a:r>
          </a:p>
        </p:txBody>
      </p:sp>
      <p:sp>
        <p:nvSpPr>
          <p:cNvPr id="114" name="TextBox 114"/>
          <p:cNvSpPr txBox="1"/>
          <p:nvPr/>
        </p:nvSpPr>
        <p:spPr>
          <a:xfrm>
            <a:off x="1173884" y="7626860"/>
            <a:ext cx="9866305" cy="1717040"/>
          </a:xfrm>
          <a:prstGeom prst="rect">
            <a:avLst/>
          </a:prstGeom>
        </p:spPr>
        <p:txBody>
          <a:bodyPr lIns="0" tIns="0" rIns="0" bIns="0" rtlCol="0" anchor="t">
            <a:spAutoFit/>
          </a:bodyPr>
          <a:lstStyle/>
          <a:p>
            <a:pPr algn="just">
              <a:lnSpc>
                <a:spcPts val="2731"/>
              </a:lnSpc>
            </a:pPr>
            <a:r>
              <a:rPr lang="en-US" sz="1951">
                <a:solidFill>
                  <a:srgbClr val="000000"/>
                </a:solidFill>
                <a:latin typeface="Gotham"/>
                <a:ea typeface="Gotham"/>
                <a:cs typeface="Gotham"/>
                <a:sym typeface="Gotham"/>
              </a:rPr>
              <a:t>AI has advanced in areas like medical imaging and recognition, yet its use in cosmetic nail styling is still limited. Users cannot easily preview personalized nail designs digitally. This project fills that gap with an AI-powered platform for real-time nail style visualization, driving digital innovation in the beauty industry.</a:t>
            </a:r>
          </a:p>
        </p:txBody>
      </p:sp>
      <p:sp>
        <p:nvSpPr>
          <p:cNvPr id="115" name="TextBox 115"/>
          <p:cNvSpPr txBox="1"/>
          <p:nvPr/>
        </p:nvSpPr>
        <p:spPr>
          <a:xfrm>
            <a:off x="1692638" y="12090859"/>
            <a:ext cx="1804060" cy="863084"/>
          </a:xfrm>
          <a:prstGeom prst="rect">
            <a:avLst/>
          </a:prstGeom>
        </p:spPr>
        <p:txBody>
          <a:bodyPr lIns="0" tIns="0" rIns="0" bIns="0" rtlCol="0" anchor="t">
            <a:spAutoFit/>
          </a:bodyPr>
          <a:lstStyle/>
          <a:p>
            <a:pPr marL="355225" lvl="1" indent="-177612" algn="l">
              <a:lnSpc>
                <a:spcPts val="2303"/>
              </a:lnSpc>
              <a:buFont typeface="Arial"/>
              <a:buChar char="•"/>
            </a:pPr>
            <a:r>
              <a:rPr lang="en-US" sz="1645">
                <a:solidFill>
                  <a:srgbClr val="000000"/>
                </a:solidFill>
                <a:latin typeface="Gotham"/>
                <a:ea typeface="Gotham"/>
                <a:cs typeface="Gotham"/>
                <a:sym typeface="Gotham"/>
              </a:rPr>
              <a:t>PostgreSQL</a:t>
            </a:r>
          </a:p>
          <a:p>
            <a:pPr marL="355225" lvl="1" indent="-177612" algn="l">
              <a:lnSpc>
                <a:spcPts val="2303"/>
              </a:lnSpc>
              <a:buFont typeface="Arial"/>
              <a:buChar char="•"/>
            </a:pPr>
            <a:r>
              <a:rPr lang="en-US" sz="1645">
                <a:solidFill>
                  <a:srgbClr val="000000"/>
                </a:solidFill>
                <a:latin typeface="Gotham"/>
                <a:ea typeface="Gotham"/>
                <a:cs typeface="Gotham"/>
                <a:sym typeface="Gotham"/>
              </a:rPr>
              <a:t>CRUD</a:t>
            </a:r>
          </a:p>
          <a:p>
            <a:pPr marL="355225" lvl="1" indent="-177612" algn="l">
              <a:lnSpc>
                <a:spcPts val="2303"/>
              </a:lnSpc>
              <a:buFont typeface="Arial"/>
              <a:buChar char="•"/>
            </a:pPr>
            <a:r>
              <a:rPr lang="en-US" sz="1645">
                <a:solidFill>
                  <a:srgbClr val="000000"/>
                </a:solidFill>
                <a:latin typeface="Gotham"/>
                <a:ea typeface="Gotham"/>
                <a:cs typeface="Gotham"/>
                <a:sym typeface="Gotham"/>
              </a:rPr>
              <a:t>RESTFUL API</a:t>
            </a:r>
          </a:p>
        </p:txBody>
      </p:sp>
      <p:sp>
        <p:nvSpPr>
          <p:cNvPr id="116" name="TextBox 116"/>
          <p:cNvSpPr txBox="1"/>
          <p:nvPr/>
        </p:nvSpPr>
        <p:spPr>
          <a:xfrm>
            <a:off x="4556243" y="12059331"/>
            <a:ext cx="2348555" cy="863084"/>
          </a:xfrm>
          <a:prstGeom prst="rect">
            <a:avLst/>
          </a:prstGeom>
        </p:spPr>
        <p:txBody>
          <a:bodyPr lIns="0" tIns="0" rIns="0" bIns="0" rtlCol="0" anchor="t">
            <a:spAutoFit/>
          </a:bodyPr>
          <a:lstStyle/>
          <a:p>
            <a:pPr marL="355225" lvl="1" indent="-177612" algn="l">
              <a:lnSpc>
                <a:spcPts val="2303"/>
              </a:lnSpc>
              <a:buFont typeface="Arial"/>
              <a:buChar char="•"/>
            </a:pPr>
            <a:r>
              <a:rPr lang="en-US" sz="1645">
                <a:solidFill>
                  <a:srgbClr val="000000"/>
                </a:solidFill>
                <a:latin typeface="Gotham"/>
                <a:ea typeface="Gotham"/>
                <a:cs typeface="Gotham"/>
                <a:sym typeface="Gotham"/>
              </a:rPr>
              <a:t>ASP.NET Core</a:t>
            </a:r>
          </a:p>
          <a:p>
            <a:pPr marL="355225" lvl="1" indent="-177612" algn="l">
              <a:lnSpc>
                <a:spcPts val="2303"/>
              </a:lnSpc>
              <a:buFont typeface="Arial"/>
              <a:buChar char="•"/>
            </a:pPr>
            <a:r>
              <a:rPr lang="en-US" sz="1645">
                <a:solidFill>
                  <a:srgbClr val="000000"/>
                </a:solidFill>
                <a:latin typeface="Gotham"/>
                <a:ea typeface="Gotham"/>
                <a:cs typeface="Gotham"/>
                <a:sym typeface="Gotham"/>
              </a:rPr>
              <a:t>JWT Security</a:t>
            </a:r>
          </a:p>
          <a:p>
            <a:pPr marL="355225" lvl="1" indent="-177612" algn="l">
              <a:lnSpc>
                <a:spcPts val="2303"/>
              </a:lnSpc>
              <a:buFont typeface="Arial"/>
              <a:buChar char="•"/>
            </a:pPr>
            <a:r>
              <a:rPr lang="en-US" sz="1645">
                <a:solidFill>
                  <a:srgbClr val="000000"/>
                </a:solidFill>
                <a:latin typeface="Gotham"/>
                <a:ea typeface="Gotham"/>
                <a:cs typeface="Gotham"/>
                <a:sym typeface="Gotham"/>
              </a:rPr>
              <a:t>C#</a:t>
            </a:r>
          </a:p>
        </p:txBody>
      </p:sp>
      <p:sp>
        <p:nvSpPr>
          <p:cNvPr id="117" name="TextBox 117"/>
          <p:cNvSpPr txBox="1"/>
          <p:nvPr/>
        </p:nvSpPr>
        <p:spPr>
          <a:xfrm>
            <a:off x="1668730" y="14617994"/>
            <a:ext cx="2181247" cy="863084"/>
          </a:xfrm>
          <a:prstGeom prst="rect">
            <a:avLst/>
          </a:prstGeom>
        </p:spPr>
        <p:txBody>
          <a:bodyPr lIns="0" tIns="0" rIns="0" bIns="0" rtlCol="0" anchor="t">
            <a:spAutoFit/>
          </a:bodyPr>
          <a:lstStyle/>
          <a:p>
            <a:pPr marL="355225" lvl="1" indent="-177612" algn="l">
              <a:lnSpc>
                <a:spcPts val="2303"/>
              </a:lnSpc>
              <a:buFont typeface="Arial"/>
              <a:buChar char="•"/>
            </a:pPr>
            <a:r>
              <a:rPr lang="en-US" sz="1645">
                <a:solidFill>
                  <a:srgbClr val="000000"/>
                </a:solidFill>
                <a:latin typeface="Gotham"/>
                <a:ea typeface="Gotham"/>
                <a:cs typeface="Gotham"/>
                <a:sym typeface="Gotham"/>
              </a:rPr>
              <a:t>React</a:t>
            </a:r>
          </a:p>
          <a:p>
            <a:pPr marL="355225" lvl="1" indent="-177612" algn="l">
              <a:lnSpc>
                <a:spcPts val="2303"/>
              </a:lnSpc>
              <a:buFont typeface="Arial"/>
              <a:buChar char="•"/>
            </a:pPr>
            <a:r>
              <a:rPr lang="en-US" sz="1645">
                <a:solidFill>
                  <a:srgbClr val="000000"/>
                </a:solidFill>
                <a:latin typeface="Gotham"/>
                <a:ea typeface="Gotham"/>
                <a:cs typeface="Gotham"/>
                <a:sym typeface="Gotham"/>
              </a:rPr>
              <a:t>TailwindCSS</a:t>
            </a:r>
          </a:p>
          <a:p>
            <a:pPr marL="355225" lvl="1" indent="-177612" algn="l">
              <a:lnSpc>
                <a:spcPts val="2303"/>
              </a:lnSpc>
              <a:buFont typeface="Arial"/>
              <a:buChar char="•"/>
            </a:pPr>
            <a:r>
              <a:rPr lang="en-US" sz="1645">
                <a:solidFill>
                  <a:srgbClr val="000000"/>
                </a:solidFill>
                <a:latin typeface="Gotham"/>
                <a:ea typeface="Gotham"/>
                <a:cs typeface="Gotham"/>
                <a:sym typeface="Gotham"/>
              </a:rPr>
              <a:t>Modern Design</a:t>
            </a:r>
          </a:p>
        </p:txBody>
      </p:sp>
      <p:sp>
        <p:nvSpPr>
          <p:cNvPr id="118" name="TextBox 118"/>
          <p:cNvSpPr txBox="1"/>
          <p:nvPr/>
        </p:nvSpPr>
        <p:spPr>
          <a:xfrm>
            <a:off x="4599052" y="14583617"/>
            <a:ext cx="2384373" cy="853848"/>
          </a:xfrm>
          <a:prstGeom prst="rect">
            <a:avLst/>
          </a:prstGeom>
        </p:spPr>
        <p:txBody>
          <a:bodyPr lIns="0" tIns="0" rIns="0" bIns="0" rtlCol="0" anchor="t">
            <a:spAutoFit/>
          </a:bodyPr>
          <a:lstStyle/>
          <a:p>
            <a:pPr marL="352768" lvl="1" indent="-176384" algn="l">
              <a:lnSpc>
                <a:spcPts val="2287"/>
              </a:lnSpc>
              <a:buFont typeface="Arial"/>
              <a:buChar char="•"/>
            </a:pPr>
            <a:r>
              <a:rPr lang="en-US" sz="1633">
                <a:solidFill>
                  <a:srgbClr val="000000"/>
                </a:solidFill>
                <a:latin typeface="Gotham"/>
                <a:ea typeface="Gotham"/>
                <a:cs typeface="Gotham"/>
                <a:sym typeface="Gotham"/>
              </a:rPr>
              <a:t>OpenCV</a:t>
            </a:r>
          </a:p>
          <a:p>
            <a:pPr marL="352768" lvl="1" indent="-176384" algn="l">
              <a:lnSpc>
                <a:spcPts val="2287"/>
              </a:lnSpc>
              <a:buFont typeface="Arial"/>
              <a:buChar char="•"/>
            </a:pPr>
            <a:r>
              <a:rPr lang="en-US" sz="1633">
                <a:solidFill>
                  <a:srgbClr val="000000"/>
                </a:solidFill>
                <a:latin typeface="Gotham"/>
                <a:ea typeface="Gotham"/>
                <a:cs typeface="Gotham"/>
                <a:sym typeface="Gotham"/>
              </a:rPr>
              <a:t>Image Enhacement</a:t>
            </a:r>
          </a:p>
          <a:p>
            <a:pPr marL="352768" lvl="1" indent="-176384" algn="l">
              <a:lnSpc>
                <a:spcPts val="2287"/>
              </a:lnSpc>
              <a:buFont typeface="Arial"/>
              <a:buChar char="•"/>
            </a:pPr>
            <a:r>
              <a:rPr lang="en-US" sz="1633">
                <a:solidFill>
                  <a:srgbClr val="000000"/>
                </a:solidFill>
                <a:latin typeface="Gotham"/>
                <a:ea typeface="Gotham"/>
                <a:cs typeface="Gotham"/>
                <a:sym typeface="Gotham"/>
              </a:rPr>
              <a:t>Pre-Processing</a:t>
            </a:r>
          </a:p>
        </p:txBody>
      </p:sp>
      <p:sp>
        <p:nvSpPr>
          <p:cNvPr id="119" name="TextBox 119"/>
          <p:cNvSpPr txBox="1"/>
          <p:nvPr/>
        </p:nvSpPr>
        <p:spPr>
          <a:xfrm>
            <a:off x="8123032" y="13330486"/>
            <a:ext cx="5012036" cy="1758950"/>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000000"/>
                </a:solidFill>
                <a:latin typeface="Gotham"/>
                <a:ea typeface="Gotham"/>
                <a:cs typeface="Gotham"/>
                <a:sym typeface="Gotham"/>
              </a:rPr>
              <a:t>Nail Segmentation</a:t>
            </a:r>
          </a:p>
          <a:p>
            <a:pPr marL="431801" lvl="1" indent="-215900" algn="l">
              <a:lnSpc>
                <a:spcPts val="2800"/>
              </a:lnSpc>
              <a:buFont typeface="Arial"/>
              <a:buChar char="•"/>
            </a:pPr>
            <a:r>
              <a:rPr lang="en-US" sz="2000">
                <a:solidFill>
                  <a:srgbClr val="000000"/>
                </a:solidFill>
                <a:latin typeface="Gotham"/>
                <a:ea typeface="Gotham"/>
                <a:cs typeface="Gotham"/>
                <a:sym typeface="Gotham"/>
              </a:rPr>
              <a:t>Fine Tune SAM with LoRA</a:t>
            </a:r>
          </a:p>
          <a:p>
            <a:pPr marL="431801" lvl="1" indent="-215900" algn="l">
              <a:lnSpc>
                <a:spcPts val="2800"/>
              </a:lnSpc>
              <a:buFont typeface="Arial"/>
              <a:buChar char="•"/>
            </a:pPr>
            <a:r>
              <a:rPr lang="en-US" sz="2000">
                <a:solidFill>
                  <a:srgbClr val="000000"/>
                </a:solidFill>
                <a:latin typeface="Gotham"/>
                <a:ea typeface="Gotham"/>
                <a:cs typeface="Gotham"/>
                <a:sym typeface="Gotham"/>
              </a:rPr>
              <a:t>25000 Images</a:t>
            </a:r>
          </a:p>
          <a:p>
            <a:pPr marL="431801" lvl="1" indent="-215900" algn="l">
              <a:lnSpc>
                <a:spcPts val="2800"/>
              </a:lnSpc>
              <a:buFont typeface="Arial"/>
              <a:buChar char="•"/>
            </a:pPr>
            <a:r>
              <a:rPr lang="en-US" sz="2000">
                <a:solidFill>
                  <a:srgbClr val="000000"/>
                </a:solidFill>
                <a:latin typeface="Gotham"/>
                <a:ea typeface="Gotham"/>
                <a:cs typeface="Gotham"/>
                <a:sym typeface="Gotham"/>
              </a:rPr>
              <a:t>50 epoch</a:t>
            </a:r>
          </a:p>
          <a:p>
            <a:pPr marL="431801" lvl="1" indent="-215900" algn="l">
              <a:lnSpc>
                <a:spcPts val="2800"/>
              </a:lnSpc>
              <a:buFont typeface="Arial"/>
              <a:buChar char="•"/>
            </a:pPr>
            <a:r>
              <a:rPr lang="en-US" sz="2000">
                <a:solidFill>
                  <a:srgbClr val="000000"/>
                </a:solidFill>
                <a:latin typeface="Gotham"/>
                <a:ea typeface="Gotham"/>
                <a:cs typeface="Gotham"/>
                <a:sym typeface="Gotham"/>
              </a:rPr>
              <a:t>A100 GPU with GoogleColab</a:t>
            </a:r>
          </a:p>
        </p:txBody>
      </p:sp>
      <p:sp>
        <p:nvSpPr>
          <p:cNvPr id="120" name="TextBox 120"/>
          <p:cNvSpPr txBox="1"/>
          <p:nvPr/>
        </p:nvSpPr>
        <p:spPr>
          <a:xfrm>
            <a:off x="7813963" y="10751068"/>
            <a:ext cx="5512129" cy="1758950"/>
          </a:xfrm>
          <a:prstGeom prst="rect">
            <a:avLst/>
          </a:prstGeom>
        </p:spPr>
        <p:txBody>
          <a:bodyPr lIns="0" tIns="0" rIns="0" bIns="0" rtlCol="0" anchor="t">
            <a:spAutoFit/>
          </a:bodyPr>
          <a:lstStyle/>
          <a:p>
            <a:pPr algn="just">
              <a:lnSpc>
                <a:spcPts val="2800"/>
              </a:lnSpc>
              <a:spcBef>
                <a:spcPct val="0"/>
              </a:spcBef>
            </a:pPr>
            <a:r>
              <a:rPr lang="en-US" sz="2000">
                <a:solidFill>
                  <a:srgbClr val="000000"/>
                </a:solidFill>
                <a:latin typeface="Gotham"/>
                <a:ea typeface="Gotham"/>
                <a:cs typeface="Gotham"/>
                <a:sym typeface="Gotham"/>
              </a:rPr>
              <a:t>The SAM model was fine-tuned for the nail segmentation task using the LoRA technique. High accuracy was achieved after training for 50 epochs on a dataset of 25,000 labeled images.</a:t>
            </a:r>
          </a:p>
        </p:txBody>
      </p:sp>
      <p:sp>
        <p:nvSpPr>
          <p:cNvPr id="121" name="TextBox 121"/>
          <p:cNvSpPr txBox="1"/>
          <p:nvPr/>
        </p:nvSpPr>
        <p:spPr>
          <a:xfrm>
            <a:off x="8331899" y="15986925"/>
            <a:ext cx="5910009" cy="630989"/>
          </a:xfrm>
          <a:prstGeom prst="rect">
            <a:avLst/>
          </a:prstGeom>
        </p:spPr>
        <p:txBody>
          <a:bodyPr lIns="0" tIns="0" rIns="0" bIns="0" rtlCol="0" anchor="t">
            <a:spAutoFit/>
          </a:bodyPr>
          <a:lstStyle/>
          <a:p>
            <a:pPr algn="ctr">
              <a:lnSpc>
                <a:spcPts val="5121"/>
              </a:lnSpc>
              <a:spcBef>
                <a:spcPct val="0"/>
              </a:spcBef>
            </a:pPr>
            <a:r>
              <a:rPr lang="en-US" sz="3657">
                <a:solidFill>
                  <a:srgbClr val="FFFFFF"/>
                </a:solidFill>
                <a:latin typeface="Gotham"/>
                <a:ea typeface="Gotham"/>
                <a:cs typeface="Gotham"/>
                <a:sym typeface="Gotham"/>
              </a:rPr>
              <a:t>CHANGE METHODS</a:t>
            </a:r>
          </a:p>
        </p:txBody>
      </p:sp>
      <p:sp>
        <p:nvSpPr>
          <p:cNvPr id="122" name="TextBox 122"/>
          <p:cNvSpPr txBox="1"/>
          <p:nvPr/>
        </p:nvSpPr>
        <p:spPr>
          <a:xfrm>
            <a:off x="936890" y="17019789"/>
            <a:ext cx="5826174" cy="580390"/>
          </a:xfrm>
          <a:prstGeom prst="rect">
            <a:avLst/>
          </a:prstGeom>
        </p:spPr>
        <p:txBody>
          <a:bodyPr lIns="0" tIns="0" rIns="0" bIns="0" rtlCol="0" anchor="t">
            <a:spAutoFit/>
          </a:bodyPr>
          <a:lstStyle/>
          <a:p>
            <a:pPr algn="ctr">
              <a:lnSpc>
                <a:spcPts val="4759"/>
              </a:lnSpc>
            </a:pPr>
            <a:r>
              <a:rPr lang="en-US" sz="3399">
                <a:solidFill>
                  <a:srgbClr val="000000"/>
                </a:solidFill>
                <a:latin typeface="Gotham"/>
                <a:ea typeface="Gotham"/>
                <a:cs typeface="Gotham"/>
                <a:sym typeface="Gotham"/>
              </a:rPr>
              <a:t>Style Transfer</a:t>
            </a:r>
          </a:p>
        </p:txBody>
      </p:sp>
      <p:sp>
        <p:nvSpPr>
          <p:cNvPr id="123" name="TextBox 123"/>
          <p:cNvSpPr txBox="1"/>
          <p:nvPr/>
        </p:nvSpPr>
        <p:spPr>
          <a:xfrm>
            <a:off x="773569" y="20655300"/>
            <a:ext cx="5826174" cy="580390"/>
          </a:xfrm>
          <a:prstGeom prst="rect">
            <a:avLst/>
          </a:prstGeom>
        </p:spPr>
        <p:txBody>
          <a:bodyPr lIns="0" tIns="0" rIns="0" bIns="0" rtlCol="0" anchor="t">
            <a:spAutoFit/>
          </a:bodyPr>
          <a:lstStyle/>
          <a:p>
            <a:pPr algn="ctr">
              <a:lnSpc>
                <a:spcPts val="4759"/>
              </a:lnSpc>
            </a:pPr>
            <a:r>
              <a:rPr lang="en-US" sz="3399">
                <a:solidFill>
                  <a:srgbClr val="000000"/>
                </a:solidFill>
                <a:latin typeface="Gotham"/>
                <a:ea typeface="Gotham"/>
                <a:cs typeface="Gotham"/>
                <a:sym typeface="Gotham"/>
              </a:rPr>
              <a:t>Prompt Engineering</a:t>
            </a:r>
          </a:p>
        </p:txBody>
      </p:sp>
      <p:sp>
        <p:nvSpPr>
          <p:cNvPr id="124" name="TextBox 124"/>
          <p:cNvSpPr txBox="1"/>
          <p:nvPr/>
        </p:nvSpPr>
        <p:spPr>
          <a:xfrm>
            <a:off x="6701621" y="20110240"/>
            <a:ext cx="2174843" cy="602835"/>
          </a:xfrm>
          <a:prstGeom prst="rect">
            <a:avLst/>
          </a:prstGeom>
        </p:spPr>
        <p:txBody>
          <a:bodyPr lIns="0" tIns="0" rIns="0" bIns="0" rtlCol="0" anchor="t">
            <a:spAutoFit/>
          </a:bodyPr>
          <a:lstStyle/>
          <a:p>
            <a:pPr algn="ctr">
              <a:lnSpc>
                <a:spcPts val="2472"/>
              </a:lnSpc>
              <a:spcBef>
                <a:spcPct val="0"/>
              </a:spcBef>
            </a:pPr>
            <a:r>
              <a:rPr lang="en-US" sz="1766">
                <a:solidFill>
                  <a:srgbClr val="000000"/>
                </a:solidFill>
                <a:latin typeface="Gotham"/>
                <a:ea typeface="Gotham"/>
                <a:cs typeface="Gotham"/>
                <a:sym typeface="Gotham"/>
              </a:rPr>
              <a:t>Upload your hand photo</a:t>
            </a:r>
          </a:p>
        </p:txBody>
      </p:sp>
      <p:sp>
        <p:nvSpPr>
          <p:cNvPr id="125" name="TextBox 125"/>
          <p:cNvSpPr txBox="1"/>
          <p:nvPr/>
        </p:nvSpPr>
        <p:spPr>
          <a:xfrm>
            <a:off x="10193672" y="24792814"/>
            <a:ext cx="10031882" cy="580390"/>
          </a:xfrm>
          <a:prstGeom prst="rect">
            <a:avLst/>
          </a:prstGeom>
        </p:spPr>
        <p:txBody>
          <a:bodyPr lIns="0" tIns="0" rIns="0" bIns="0" rtlCol="0" anchor="t">
            <a:spAutoFit/>
          </a:bodyPr>
          <a:lstStyle/>
          <a:p>
            <a:pPr algn="ctr">
              <a:lnSpc>
                <a:spcPts val="4759"/>
              </a:lnSpc>
              <a:spcBef>
                <a:spcPct val="0"/>
              </a:spcBef>
            </a:pPr>
            <a:r>
              <a:rPr lang="en-US" sz="3399">
                <a:solidFill>
                  <a:srgbClr val="FFFFFF"/>
                </a:solidFill>
                <a:latin typeface="Gotham"/>
                <a:ea typeface="Gotham"/>
                <a:cs typeface="Gotham"/>
                <a:sym typeface="Gotham"/>
              </a:rPr>
              <a:t>TARGET MARKET</a:t>
            </a:r>
          </a:p>
        </p:txBody>
      </p:sp>
      <p:sp>
        <p:nvSpPr>
          <p:cNvPr id="126" name="TextBox 126"/>
          <p:cNvSpPr txBox="1"/>
          <p:nvPr/>
        </p:nvSpPr>
        <p:spPr>
          <a:xfrm>
            <a:off x="3155211" y="6923946"/>
            <a:ext cx="5997524" cy="580390"/>
          </a:xfrm>
          <a:prstGeom prst="rect">
            <a:avLst/>
          </a:prstGeom>
        </p:spPr>
        <p:txBody>
          <a:bodyPr lIns="0" tIns="0" rIns="0" bIns="0" rtlCol="0" anchor="t">
            <a:spAutoFit/>
          </a:bodyPr>
          <a:lstStyle/>
          <a:p>
            <a:pPr algn="ctr">
              <a:lnSpc>
                <a:spcPts val="4759"/>
              </a:lnSpc>
              <a:spcBef>
                <a:spcPct val="0"/>
              </a:spcBef>
            </a:pPr>
            <a:r>
              <a:rPr lang="en-US" sz="3399">
                <a:solidFill>
                  <a:srgbClr val="FFFFFF"/>
                </a:solidFill>
                <a:latin typeface="Gotham"/>
                <a:ea typeface="Gotham"/>
                <a:cs typeface="Gotham"/>
                <a:sym typeface="Gotham"/>
              </a:rPr>
              <a:t> RESEARCH PROBLEM</a:t>
            </a:r>
          </a:p>
        </p:txBody>
      </p:sp>
      <p:sp>
        <p:nvSpPr>
          <p:cNvPr id="127" name="TextBox 127"/>
          <p:cNvSpPr txBox="1"/>
          <p:nvPr/>
        </p:nvSpPr>
        <p:spPr>
          <a:xfrm>
            <a:off x="13393809" y="3616457"/>
            <a:ext cx="5004007" cy="580390"/>
          </a:xfrm>
          <a:prstGeom prst="rect">
            <a:avLst/>
          </a:prstGeom>
        </p:spPr>
        <p:txBody>
          <a:bodyPr lIns="0" tIns="0" rIns="0" bIns="0" rtlCol="0" anchor="t">
            <a:spAutoFit/>
          </a:bodyPr>
          <a:lstStyle/>
          <a:p>
            <a:pPr algn="ctr">
              <a:lnSpc>
                <a:spcPts val="4759"/>
              </a:lnSpc>
              <a:spcBef>
                <a:spcPct val="0"/>
              </a:spcBef>
            </a:pPr>
            <a:r>
              <a:rPr lang="en-US" sz="3399">
                <a:solidFill>
                  <a:srgbClr val="FFFFFF"/>
                </a:solidFill>
                <a:latin typeface="Gotham"/>
                <a:ea typeface="Gotham"/>
                <a:cs typeface="Gotham"/>
                <a:sym typeface="Gotham"/>
              </a:rPr>
              <a:t>DATA PREPARATION</a:t>
            </a:r>
          </a:p>
        </p:txBody>
      </p:sp>
      <p:sp>
        <p:nvSpPr>
          <p:cNvPr id="128" name="TextBox 128"/>
          <p:cNvSpPr txBox="1"/>
          <p:nvPr/>
        </p:nvSpPr>
        <p:spPr>
          <a:xfrm>
            <a:off x="7646199" y="9977177"/>
            <a:ext cx="6091602" cy="580390"/>
          </a:xfrm>
          <a:prstGeom prst="rect">
            <a:avLst/>
          </a:prstGeom>
        </p:spPr>
        <p:txBody>
          <a:bodyPr lIns="0" tIns="0" rIns="0" bIns="0" rtlCol="0" anchor="t">
            <a:spAutoFit/>
          </a:bodyPr>
          <a:lstStyle/>
          <a:p>
            <a:pPr algn="ctr">
              <a:lnSpc>
                <a:spcPts val="4759"/>
              </a:lnSpc>
              <a:spcBef>
                <a:spcPct val="0"/>
              </a:spcBef>
            </a:pPr>
            <a:r>
              <a:rPr lang="en-US" sz="3399">
                <a:solidFill>
                  <a:srgbClr val="FFFFFF"/>
                </a:solidFill>
                <a:latin typeface="Gotham"/>
                <a:ea typeface="Gotham"/>
                <a:cs typeface="Gotham"/>
                <a:sym typeface="Gotham"/>
              </a:rPr>
              <a:t>SAM WITH LoRA</a:t>
            </a:r>
          </a:p>
        </p:txBody>
      </p:sp>
      <p:sp>
        <p:nvSpPr>
          <p:cNvPr id="129" name="TextBox 129"/>
          <p:cNvSpPr txBox="1"/>
          <p:nvPr/>
        </p:nvSpPr>
        <p:spPr>
          <a:xfrm>
            <a:off x="10453035" y="20100589"/>
            <a:ext cx="2057767" cy="602835"/>
          </a:xfrm>
          <a:prstGeom prst="rect">
            <a:avLst/>
          </a:prstGeom>
        </p:spPr>
        <p:txBody>
          <a:bodyPr lIns="0" tIns="0" rIns="0" bIns="0" rtlCol="0" anchor="t">
            <a:spAutoFit/>
          </a:bodyPr>
          <a:lstStyle/>
          <a:p>
            <a:pPr algn="ctr">
              <a:lnSpc>
                <a:spcPts val="2472"/>
              </a:lnSpc>
              <a:spcBef>
                <a:spcPct val="0"/>
              </a:spcBef>
            </a:pPr>
            <a:r>
              <a:rPr lang="en-US" sz="1766">
                <a:solidFill>
                  <a:srgbClr val="000000"/>
                </a:solidFill>
                <a:latin typeface="Gotham"/>
                <a:ea typeface="Gotham"/>
                <a:cs typeface="Gotham"/>
                <a:sym typeface="Gotham"/>
              </a:rPr>
              <a:t>Nail area detected using SAM</a:t>
            </a:r>
          </a:p>
        </p:txBody>
      </p:sp>
      <p:sp>
        <p:nvSpPr>
          <p:cNvPr id="130" name="TextBox 130"/>
          <p:cNvSpPr txBox="1"/>
          <p:nvPr/>
        </p:nvSpPr>
        <p:spPr>
          <a:xfrm>
            <a:off x="13764295" y="20100589"/>
            <a:ext cx="2582239" cy="602835"/>
          </a:xfrm>
          <a:prstGeom prst="rect">
            <a:avLst/>
          </a:prstGeom>
        </p:spPr>
        <p:txBody>
          <a:bodyPr lIns="0" tIns="0" rIns="0" bIns="0" rtlCol="0" anchor="t">
            <a:spAutoFit/>
          </a:bodyPr>
          <a:lstStyle/>
          <a:p>
            <a:pPr algn="ctr">
              <a:lnSpc>
                <a:spcPts val="2472"/>
              </a:lnSpc>
              <a:spcBef>
                <a:spcPct val="0"/>
              </a:spcBef>
            </a:pPr>
            <a:r>
              <a:rPr lang="en-US" sz="1766">
                <a:solidFill>
                  <a:srgbClr val="000000"/>
                </a:solidFill>
                <a:latin typeface="Gotham"/>
                <a:ea typeface="Gotham"/>
                <a:cs typeface="Gotham"/>
                <a:sym typeface="Gotham"/>
              </a:rPr>
              <a:t>Choose your favorite nail art style</a:t>
            </a:r>
          </a:p>
        </p:txBody>
      </p:sp>
      <p:sp>
        <p:nvSpPr>
          <p:cNvPr id="131" name="TextBox 131"/>
          <p:cNvSpPr txBox="1"/>
          <p:nvPr/>
        </p:nvSpPr>
        <p:spPr>
          <a:xfrm>
            <a:off x="17532040" y="20100589"/>
            <a:ext cx="2152258" cy="602835"/>
          </a:xfrm>
          <a:prstGeom prst="rect">
            <a:avLst/>
          </a:prstGeom>
        </p:spPr>
        <p:txBody>
          <a:bodyPr lIns="0" tIns="0" rIns="0" bIns="0" rtlCol="0" anchor="t">
            <a:spAutoFit/>
          </a:bodyPr>
          <a:lstStyle/>
          <a:p>
            <a:pPr algn="ctr">
              <a:lnSpc>
                <a:spcPts val="2472"/>
              </a:lnSpc>
              <a:spcBef>
                <a:spcPct val="0"/>
              </a:spcBef>
            </a:pPr>
            <a:r>
              <a:rPr lang="en-US" sz="1766">
                <a:solidFill>
                  <a:srgbClr val="000000"/>
                </a:solidFill>
                <a:latin typeface="Gotham"/>
                <a:ea typeface="Gotham"/>
                <a:cs typeface="Gotham"/>
                <a:sym typeface="Gotham"/>
              </a:rPr>
              <a:t>Final preview with applied style</a:t>
            </a:r>
          </a:p>
        </p:txBody>
      </p:sp>
      <p:sp>
        <p:nvSpPr>
          <p:cNvPr id="132" name="TextBox 132"/>
          <p:cNvSpPr txBox="1"/>
          <p:nvPr/>
        </p:nvSpPr>
        <p:spPr>
          <a:xfrm>
            <a:off x="6760643" y="23590568"/>
            <a:ext cx="2174843" cy="602835"/>
          </a:xfrm>
          <a:prstGeom prst="rect">
            <a:avLst/>
          </a:prstGeom>
        </p:spPr>
        <p:txBody>
          <a:bodyPr lIns="0" tIns="0" rIns="0" bIns="0" rtlCol="0" anchor="t">
            <a:spAutoFit/>
          </a:bodyPr>
          <a:lstStyle/>
          <a:p>
            <a:pPr algn="ctr">
              <a:lnSpc>
                <a:spcPts val="2472"/>
              </a:lnSpc>
              <a:spcBef>
                <a:spcPct val="0"/>
              </a:spcBef>
            </a:pPr>
            <a:r>
              <a:rPr lang="en-US" sz="1766">
                <a:solidFill>
                  <a:srgbClr val="000000"/>
                </a:solidFill>
                <a:latin typeface="Gotham"/>
                <a:ea typeface="Gotham"/>
                <a:cs typeface="Gotham"/>
                <a:sym typeface="Gotham"/>
              </a:rPr>
              <a:t>Upload your hand photo</a:t>
            </a:r>
          </a:p>
        </p:txBody>
      </p:sp>
      <p:sp>
        <p:nvSpPr>
          <p:cNvPr id="133" name="TextBox 133"/>
          <p:cNvSpPr txBox="1"/>
          <p:nvPr/>
        </p:nvSpPr>
        <p:spPr>
          <a:xfrm>
            <a:off x="10512058" y="23580918"/>
            <a:ext cx="2057767" cy="602835"/>
          </a:xfrm>
          <a:prstGeom prst="rect">
            <a:avLst/>
          </a:prstGeom>
        </p:spPr>
        <p:txBody>
          <a:bodyPr lIns="0" tIns="0" rIns="0" bIns="0" rtlCol="0" anchor="t">
            <a:spAutoFit/>
          </a:bodyPr>
          <a:lstStyle/>
          <a:p>
            <a:pPr algn="ctr">
              <a:lnSpc>
                <a:spcPts val="2472"/>
              </a:lnSpc>
              <a:spcBef>
                <a:spcPct val="0"/>
              </a:spcBef>
            </a:pPr>
            <a:r>
              <a:rPr lang="en-US" sz="1766">
                <a:solidFill>
                  <a:srgbClr val="000000"/>
                </a:solidFill>
                <a:latin typeface="Gotham"/>
                <a:ea typeface="Gotham"/>
                <a:cs typeface="Gotham"/>
                <a:sym typeface="Gotham"/>
              </a:rPr>
              <a:t>Nail area detected using SAM</a:t>
            </a:r>
          </a:p>
        </p:txBody>
      </p:sp>
      <p:sp>
        <p:nvSpPr>
          <p:cNvPr id="134" name="TextBox 134"/>
          <p:cNvSpPr txBox="1"/>
          <p:nvPr/>
        </p:nvSpPr>
        <p:spPr>
          <a:xfrm>
            <a:off x="13823318" y="23580918"/>
            <a:ext cx="2582239" cy="602835"/>
          </a:xfrm>
          <a:prstGeom prst="rect">
            <a:avLst/>
          </a:prstGeom>
        </p:spPr>
        <p:txBody>
          <a:bodyPr lIns="0" tIns="0" rIns="0" bIns="0" rtlCol="0" anchor="t">
            <a:spAutoFit/>
          </a:bodyPr>
          <a:lstStyle/>
          <a:p>
            <a:pPr algn="ctr">
              <a:lnSpc>
                <a:spcPts val="2472"/>
              </a:lnSpc>
              <a:spcBef>
                <a:spcPct val="0"/>
              </a:spcBef>
            </a:pPr>
            <a:r>
              <a:rPr lang="en-US" sz="1766">
                <a:solidFill>
                  <a:srgbClr val="000000"/>
                </a:solidFill>
                <a:latin typeface="Gotham"/>
                <a:ea typeface="Gotham"/>
                <a:cs typeface="Gotham"/>
                <a:sym typeface="Gotham"/>
              </a:rPr>
              <a:t>Choose your favorite nail art style</a:t>
            </a:r>
          </a:p>
        </p:txBody>
      </p:sp>
      <p:sp>
        <p:nvSpPr>
          <p:cNvPr id="135" name="TextBox 135"/>
          <p:cNvSpPr txBox="1"/>
          <p:nvPr/>
        </p:nvSpPr>
        <p:spPr>
          <a:xfrm>
            <a:off x="17591063" y="23580918"/>
            <a:ext cx="2152258" cy="602835"/>
          </a:xfrm>
          <a:prstGeom prst="rect">
            <a:avLst/>
          </a:prstGeom>
        </p:spPr>
        <p:txBody>
          <a:bodyPr lIns="0" tIns="0" rIns="0" bIns="0" rtlCol="0" anchor="t">
            <a:spAutoFit/>
          </a:bodyPr>
          <a:lstStyle/>
          <a:p>
            <a:pPr algn="ctr">
              <a:lnSpc>
                <a:spcPts val="2472"/>
              </a:lnSpc>
              <a:spcBef>
                <a:spcPct val="0"/>
              </a:spcBef>
            </a:pPr>
            <a:r>
              <a:rPr lang="en-US" sz="1766">
                <a:solidFill>
                  <a:srgbClr val="000000"/>
                </a:solidFill>
                <a:latin typeface="Gotham"/>
                <a:ea typeface="Gotham"/>
                <a:cs typeface="Gotham"/>
                <a:sym typeface="Gotham"/>
              </a:rPr>
              <a:t>Final preview with applied style</a:t>
            </a:r>
          </a:p>
        </p:txBody>
      </p:sp>
      <p:sp>
        <p:nvSpPr>
          <p:cNvPr id="136" name="TextBox 136"/>
          <p:cNvSpPr txBox="1"/>
          <p:nvPr/>
        </p:nvSpPr>
        <p:spPr>
          <a:xfrm>
            <a:off x="13934487" y="9977177"/>
            <a:ext cx="6091602" cy="580390"/>
          </a:xfrm>
          <a:prstGeom prst="rect">
            <a:avLst/>
          </a:prstGeom>
        </p:spPr>
        <p:txBody>
          <a:bodyPr lIns="0" tIns="0" rIns="0" bIns="0" rtlCol="0" anchor="t">
            <a:spAutoFit/>
          </a:bodyPr>
          <a:lstStyle/>
          <a:p>
            <a:pPr algn="ctr">
              <a:lnSpc>
                <a:spcPts val="4759"/>
              </a:lnSpc>
              <a:spcBef>
                <a:spcPct val="0"/>
              </a:spcBef>
            </a:pPr>
            <a:r>
              <a:rPr lang="en-US" sz="3399">
                <a:solidFill>
                  <a:srgbClr val="FFFFFF"/>
                </a:solidFill>
                <a:latin typeface="Gotham"/>
                <a:ea typeface="Gotham"/>
                <a:cs typeface="Gotham"/>
                <a:sym typeface="Gotham"/>
              </a:rPr>
              <a:t>SEGMENTATION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7aeeced-6a52-442e-a500-b633b56ea835" xsi:nil="true"/>
    <ReferenceId xmlns="eb5428dc-1dd9-441a-b0c8-d351b988534a" xsi:nil="true"/>
    <lcf76f155ced4ddcb4097134ff3c332f xmlns="eb5428dc-1dd9-441a-b0c8-d351b988534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Belge" ma:contentTypeID="0x0101007A6AA7754F1DB34F92B3A39C3771A606" ma:contentTypeVersion="13" ma:contentTypeDescription="Yeni belge oluşturun." ma:contentTypeScope="" ma:versionID="503c5af8500cc19b3c8c07d91bb4d0a9">
  <xsd:schema xmlns:xsd="http://www.w3.org/2001/XMLSchema" xmlns:xs="http://www.w3.org/2001/XMLSchema" xmlns:p="http://schemas.microsoft.com/office/2006/metadata/properties" xmlns:ns2="eb5428dc-1dd9-441a-b0c8-d351b988534a" xmlns:ns3="d7aeeced-6a52-442e-a500-b633b56ea835" targetNamespace="http://schemas.microsoft.com/office/2006/metadata/properties" ma:root="true" ma:fieldsID="3ab1cacd73379410bd43d61166809b0a" ns2:_="" ns3:_="">
    <xsd:import namespace="eb5428dc-1dd9-441a-b0c8-d351b988534a"/>
    <xsd:import namespace="d7aeeced-6a52-442e-a500-b633b56ea835"/>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5428dc-1dd9-441a-b0c8-d351b988534a"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Resim Etiketleri" ma:readOnly="false" ma:fieldId="{5cf76f15-5ced-4ddc-b409-7134ff3c332f}" ma:taxonomyMulti="true" ma:sspId="7214d517-3e7a-4037-8330-a311d880aefe"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7aeeced-6a52-442e-a500-b633b56ea835"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47138903-71e4-4baf-8390-d5004b5a7883}" ma:internalName="TaxCatchAll" ma:showField="CatchAllData" ma:web="d7aeeced-6a52-442e-a500-b633b56ea83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F69006-FF01-498E-B05B-F88DACA6B0F2}">
  <ds:schemaRefs>
    <ds:schemaRef ds:uri="http://schemas.microsoft.com/office/2006/metadata/properties"/>
    <ds:schemaRef ds:uri="http://schemas.microsoft.com/office/infopath/2007/PartnerControls"/>
    <ds:schemaRef ds:uri="d7aeeced-6a52-442e-a500-b633b56ea835"/>
    <ds:schemaRef ds:uri="eb5428dc-1dd9-441a-b0c8-d351b988534a"/>
  </ds:schemaRefs>
</ds:datastoreItem>
</file>

<file path=customXml/itemProps2.xml><?xml version="1.0" encoding="utf-8"?>
<ds:datastoreItem xmlns:ds="http://schemas.openxmlformats.org/officeDocument/2006/customXml" ds:itemID="{F43B9A9A-6360-42F9-B2AF-80FDBF472B4C}">
  <ds:schemaRefs>
    <ds:schemaRef ds:uri="http://schemas.microsoft.com/sharepoint/v3/contenttype/forms"/>
  </ds:schemaRefs>
</ds:datastoreItem>
</file>

<file path=customXml/itemProps3.xml><?xml version="1.0" encoding="utf-8"?>
<ds:datastoreItem xmlns:ds="http://schemas.openxmlformats.org/officeDocument/2006/customXml" ds:itemID="{73115512-2129-4793-BE26-24BA0CD708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5428dc-1dd9-441a-b0c8-d351b988534a"/>
    <ds:schemaRef ds:uri="d7aeeced-6a52-442e-a500-b633b56ea8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299</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Canva Sans</vt:lpstr>
      <vt:lpstr>Gotham</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GRAD-PROJECT-POSTER (59.4 x 84.1 cm)</dc:title>
  <cp:lastModifiedBy>Fatih NAR</cp:lastModifiedBy>
  <cp:revision>1</cp:revision>
  <dcterms:created xsi:type="dcterms:W3CDTF">2006-08-16T00:00:00Z</dcterms:created>
  <dcterms:modified xsi:type="dcterms:W3CDTF">2025-05-17T15:08:29Z</dcterms:modified>
  <dc:identifier>DAGmsRc2Pts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0x0101007A6AA7754F1DB34F92B3A39C3771A606</vt:lpwstr>
  </property>
</Properties>
</file>